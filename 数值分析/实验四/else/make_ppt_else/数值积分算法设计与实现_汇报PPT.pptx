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070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数值积分算法设计与实现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029968"/>
            <a:ext cx="96012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2100" b="1">
                <a:solidFill>
                  <a:srgbClr val="DCEEFF"/>
                </a:solidFill>
                <a:latin typeface="微软雅黑" panose="020B0503020204020204" charset="-122"/>
              </a:defRPr>
            </a:pPr>
            <a:r>
              <a:t>梯形公式 · 辛普森公式 · 复化求积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94760"/>
            <a:ext cx="804672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600" b="0">
                <a:solidFill>
                  <a:srgbClr val="EAF6FF"/>
                </a:solidFill>
                <a:latin typeface="微软雅黑" panose="020B0503020204020204" charset="-122"/>
              </a:defRPr>
            </a:pPr>
            <a:r>
              <a:t>工程背景：非线性变速运动位移积分</a:t>
            </a:r>
          </a:p>
          <a:p>
            <a:pPr algn="ctr">
              <a:defRPr sz="1600" b="0">
                <a:solidFill>
                  <a:srgbClr val="EAF6FF"/>
                </a:solidFill>
                <a:latin typeface="微软雅黑" panose="020B0503020204020204" charset="-122"/>
              </a:defRPr>
            </a:pPr>
            <a:r>
              <a:t>速度函数：v(t)=4/(1+t²)，区间：[0,1]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15000"/>
            <a:ext cx="81381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400" b="0">
                <a:solidFill>
                  <a:srgbClr val="BFD7EA"/>
                </a:solidFill>
                <a:latin typeface="微软雅黑" panose="020B0503020204020204" charset="-122"/>
              </a:defRPr>
            </a:pPr>
            <a:r>
              <a:t>团队：吴瑞东、余耽阳、饶宇佳、刘家乐、周亚辉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BFD7EA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任务拆分清晰：推导、编程、结果、误差分析与汇报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234440"/>
          <a:ext cx="106527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723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角色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姓名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主要负责内容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组长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吴瑞东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思考题1-5、实验报告、讲解PPT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组员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余眈阳</a:t>
                      </a:r>
                      <a:endParaRPr lang="zh-CN"/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梯形与复化梯形：推导、代码、计算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组员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饶宇佳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辛普森公式：推导、代码、计算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组员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刘家乐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复化辛普森公式：推导、代码、计算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组员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周亚辉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数据汇总、误差分析、图表绘制、PPT讲解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5806440"/>
            <a:ext cx="201168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5806440"/>
            <a:ext cx="73152" cy="594360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5916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报告结构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6217920"/>
            <a:ext cx="1737360" cy="914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3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原理 → 实现 → 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5806440"/>
            <a:ext cx="201168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5806440"/>
            <a:ext cx="73152" cy="59436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5916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核心对象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6217920"/>
            <a:ext cx="1737360" cy="914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3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∫₀¹ 4/(1+t²)dt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5806440"/>
            <a:ext cx="201168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5806440"/>
            <a:ext cx="73152" cy="59436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6712" y="5916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精确值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96712" y="6217920"/>
            <a:ext cx="1737360" cy="914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5806440"/>
            <a:ext cx="201168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5806440"/>
            <a:ext cx="73152" cy="59436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82712" y="5916168"/>
            <a:ext cx="1737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重点对比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82712" y="6217920"/>
            <a:ext cx="1737360" cy="9143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2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精度 / 收敛 / 计算量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实验目的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把连续定积分转化为离散加权求和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926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35607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900" b="1">
                <a:solidFill>
                  <a:srgbClr val="1C5D99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数值积分思想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2331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连续积分</a:t>
            </a:r>
          </a:p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→ 离散加权求和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2926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35607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900" b="1">
                <a:solidFill>
                  <a:srgbClr val="6A4C93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481328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公式推导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331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梯形 / 辛普森</a:t>
            </a:r>
          </a:p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误差特性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2926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435607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900" b="1">
                <a:solidFill>
                  <a:srgbClr val="00A896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481328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39112"/>
            <a:ext cx="2331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步长 h</a:t>
            </a:r>
          </a:p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影响精度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94760"/>
            <a:ext cx="2926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904488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900" b="1">
                <a:solidFill>
                  <a:srgbClr val="F28C2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50208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编程实现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507992"/>
            <a:ext cx="2331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四种算法</a:t>
            </a:r>
          </a:p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统一比较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794760"/>
            <a:ext cx="292608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904488"/>
            <a:ext cx="502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900" b="1">
                <a:solidFill>
                  <a:srgbClr val="E63946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50208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工程分析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07992"/>
            <a:ext cx="23317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精度、稳定性</a:t>
            </a:r>
          </a:p>
          <a:p>
            <a:pPr algn="ctr">
              <a:defRPr sz="1600" b="1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计算成本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工程背景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工程中大量函数无法直接求原函数，需要数值积分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14884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965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600" b="1">
                <a:solidFill>
                  <a:srgbClr val="1C5D99"/>
                </a:solidFill>
                <a:latin typeface="微软雅黑" panose="020B0503020204020204" charset="-122"/>
              </a:defRPr>
            </a:pPr>
            <a:r>
              <a:t>物理过程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1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速度 / 热流 / 电量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98648" y="1572768"/>
            <a:ext cx="502920" cy="411480"/>
          </a:xfrm>
          <a:prstGeom prst="rightArrow">
            <a:avLst/>
          </a:prstGeom>
          <a:solidFill>
            <a:srgbClr val="BFD7EA"/>
          </a:solidFill>
          <a:ln>
            <a:solidFill>
              <a:srgbClr val="BF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14884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1965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600" b="1">
                <a:solidFill>
                  <a:srgbClr val="00A896"/>
                </a:solidFill>
                <a:latin typeface="微软雅黑" panose="020B0503020204020204" charset="-122"/>
              </a:defRPr>
            </a:pPr>
            <a:r>
              <a:t>离散数据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847088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1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传感器 / 仿真 / 黑箱模型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87568" y="1572768"/>
            <a:ext cx="502920" cy="411480"/>
          </a:xfrm>
          <a:prstGeom prst="rightArrow">
            <a:avLst/>
          </a:prstGeom>
          <a:solidFill>
            <a:srgbClr val="BFD7EA"/>
          </a:solidFill>
          <a:ln>
            <a:solidFill>
              <a:srgbClr val="BF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234440"/>
            <a:ext cx="214884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417320"/>
            <a:ext cx="1965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600" b="1">
                <a:solidFill>
                  <a:srgbClr val="F28C28"/>
                </a:solidFill>
                <a:latin typeface="微软雅黑" panose="020B0503020204020204" charset="-122"/>
              </a:defRPr>
            </a:pPr>
            <a:r>
              <a:t>数值积分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47088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1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加权求和近似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1572768"/>
            <a:ext cx="502920" cy="411480"/>
          </a:xfrm>
          <a:prstGeom prst="rightArrow">
            <a:avLst/>
          </a:prstGeom>
          <a:solidFill>
            <a:srgbClr val="BFD7EA"/>
          </a:solidFill>
          <a:ln>
            <a:solidFill>
              <a:srgbClr val="BF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59" y="1234440"/>
            <a:ext cx="214884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1417320"/>
            <a:ext cx="19659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600" b="1">
                <a:solidFill>
                  <a:srgbClr val="6A4C93"/>
                </a:solidFill>
                <a:latin typeface="微软雅黑" panose="020B0503020204020204" charset="-122"/>
              </a:defRPr>
            </a:pPr>
            <a:r>
              <a:t>工程决策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1847088"/>
            <a:ext cx="1874519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1100" b="0">
                <a:solidFill>
                  <a:srgbClr val="111111"/>
                </a:solidFill>
                <a:latin typeface="微软雅黑" panose="020B0503020204020204" charset="-122"/>
              </a:defRPr>
            </a:pPr>
            <a:r>
              <a:t>位移 / 能量 / 轨迹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143000" y="3063240"/>
          <a:ext cx="9875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49377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领域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典型积分任务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航空航天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再入热流密度积分 → 总热量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车辆工程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电池电流积分 → 剩余电量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机器人控制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速度积分 → 位移轨迹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能源动力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功率积分 → 能量消耗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工程模型：滑块非线性变速运动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位移 = 速度函数在时间区间上的定积分</a:t>
            </a:r>
          </a:p>
        </p:txBody>
      </p:sp>
      <p:pic>
        <p:nvPicPr>
          <p:cNvPr id="6" name="Picture 5" descr="curve_are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630936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325880"/>
            <a:ext cx="35661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325880"/>
            <a:ext cx="73152" cy="868680"/>
          </a:xfrm>
          <a:prstGeom prst="rect">
            <a:avLst/>
          </a:prstGeom>
          <a:solidFill>
            <a:srgbClr val="1C5D99"/>
          </a:solidFill>
          <a:ln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435607"/>
            <a:ext cx="3291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速度函数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737360"/>
            <a:ext cx="3291840" cy="36575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1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v(t)=4/(1+t²)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468880"/>
            <a:ext cx="35661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468880"/>
            <a:ext cx="73152" cy="86868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578608"/>
            <a:ext cx="3291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积分区间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880360"/>
            <a:ext cx="3291840" cy="36575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1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[0,1] 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611880"/>
            <a:ext cx="35661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611880"/>
            <a:ext cx="73152" cy="86868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3721608"/>
            <a:ext cx="3291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精确位移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4023360"/>
            <a:ext cx="3291840" cy="36575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S=π≈3.1415926536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754880"/>
            <a:ext cx="356616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754880"/>
            <a:ext cx="73152" cy="86868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4864608"/>
            <a:ext cx="3291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比较指标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5166360"/>
            <a:ext cx="3291840" cy="36575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7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绝对误差 |I-Iₙ|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四种算法总览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普通公式用于单区间；复化公式通过加密网格提升精度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43000"/>
          <a:ext cx="108356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128"/>
                <a:gridCol w="2167128"/>
                <a:gridCol w="2167128"/>
                <a:gridCol w="2167128"/>
                <a:gridCol w="2167128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核心思想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函数估值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误差阶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限制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端点直线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局部 O(h³)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粗略估算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三点抛物线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局部 O(h⁵)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函数光滑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分段梯形累加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n+1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整体 O(h²)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 任意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两段一组抛物线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n+1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整体 O(h⁴)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 必须为偶数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4800600"/>
            <a:ext cx="73152" cy="731520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4910328"/>
            <a:ext cx="20574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低成本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52120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普通公式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4800600"/>
            <a:ext cx="73152" cy="731520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4910328"/>
            <a:ext cx="20574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可收敛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52120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复化公式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800600"/>
            <a:ext cx="73152" cy="73152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4910328"/>
            <a:ext cx="20574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高精度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52120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辛普森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800600"/>
            <a:ext cx="233172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4800600"/>
            <a:ext cx="73152" cy="73152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42832" y="4910328"/>
            <a:ext cx="20574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工程首选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2" y="5212080"/>
            <a:ext cx="205740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复化辛普森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梯形求积公式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用端点连线近似曲线下方面积</a:t>
            </a:r>
          </a:p>
        </p:txBody>
      </p:sp>
      <p:pic>
        <p:nvPicPr>
          <p:cNvPr id="6" name="Picture 5" descr="tr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3550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3444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73152" cy="77724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34416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普通梯形公式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64592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T=(b-a)[f(a)+f(b)]/2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4028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240280"/>
            <a:ext cx="73152" cy="777240"/>
          </a:xfrm>
          <a:prstGeom prst="rect">
            <a:avLst/>
          </a:prstGeom>
          <a:solidFill>
            <a:srgbClr val="1C5D99"/>
          </a:solidFill>
          <a:ln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35000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本题结果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65176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0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T=3.000000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4612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246120"/>
            <a:ext cx="73152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335584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绝对误差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65760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0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1.416e-01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5196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251960"/>
            <a:ext cx="73152" cy="777240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436168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特点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466344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简单，但精度低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辛普森公式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用端点与中点确定抛物线，近似曲边面积</a:t>
            </a:r>
          </a:p>
        </p:txBody>
      </p:sp>
      <p:pic>
        <p:nvPicPr>
          <p:cNvPr id="6" name="Picture 5" descr="simp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355080" cy="4023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23444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234440"/>
            <a:ext cx="73152" cy="77724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9792" y="134416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辛普森公式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64592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2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S=(b-a)[f(a)+4f(m)+f(b)]/6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24028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240280"/>
            <a:ext cx="73152" cy="777240"/>
          </a:xfrm>
          <a:prstGeom prst="rect">
            <a:avLst/>
          </a:prstGeom>
          <a:solidFill>
            <a:srgbClr val="1C5D99"/>
          </a:solidFill>
          <a:ln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235000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本题结果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265176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0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S=3.133333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4612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3246120"/>
            <a:ext cx="73152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335584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绝对误差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65760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0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8.259e-03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251960"/>
            <a:ext cx="36576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0" y="4251960"/>
            <a:ext cx="73152" cy="77724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9792" y="436168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代数精度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4663440"/>
            <a:ext cx="33832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7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三次多项式精确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复化求积思想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把区间细分，逐段近似，再累加</a:t>
            </a:r>
          </a:p>
        </p:txBody>
      </p:sp>
      <p:pic>
        <p:nvPicPr>
          <p:cNvPr id="6" name="Picture 5" descr="gri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6172200" cy="38404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86600" y="1234440"/>
          <a:ext cx="42519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离散公式核心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误差阶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h[0.5f₀+Σfᵢ+0.5fₙ]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O(h²)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h/3[f₀+4Σf奇+2Σf偶+fₙ]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O(h⁴)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3429000"/>
            <a:ext cx="18288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3429000"/>
            <a:ext cx="73152" cy="731520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3538728"/>
            <a:ext cx="15544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步长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384048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h=(b-a)/n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3429000"/>
            <a:ext cx="18288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81160" y="3429000"/>
            <a:ext cx="73152" cy="731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3538728"/>
            <a:ext cx="15544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2" y="3840480"/>
            <a:ext cx="15544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xᵢ=a+ih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389120"/>
            <a:ext cx="388620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4389120"/>
            <a:ext cx="73152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4498848"/>
            <a:ext cx="36118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辛普森约束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4800600"/>
            <a:ext cx="361188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n 必须为偶数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算法实现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四个函数：输入 f,a,b,n，输出近似积分值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88720"/>
          <a:ext cx="10835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核心计算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说明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trapezoid_single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(b-a)(f(a)+f(b))/2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simpson_single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(b-a)(f(a)+4f(m)+f(b))/6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composite_trapezoid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h(0.5f₀+Σfᵢ+0.5fₙ)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 任意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composite_simpson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h/3(f₀+4Σf奇+2Σf偶+fₙ)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n 为偶数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663440"/>
            <a:ext cx="22860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73152" cy="731520"/>
          </a:xfrm>
          <a:prstGeom prst="rect">
            <a:avLst/>
          </a:prstGeom>
          <a:solidFill>
            <a:srgbClr val="1C5D99"/>
          </a:solidFill>
          <a:ln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477316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50749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f, a, b,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663440"/>
            <a:ext cx="22860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4663440"/>
            <a:ext cx="73152" cy="731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477316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50749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节点 → 权重 → 求和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63440"/>
            <a:ext cx="22860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4663440"/>
            <a:ext cx="73152" cy="73152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77316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50749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1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Iₙ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4663440"/>
            <a:ext cx="22860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4663440"/>
            <a:ext cx="73152" cy="73152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477316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评价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5074920"/>
            <a:ext cx="20116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21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|I-Iₙ|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实验结果汇总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被积函数：v(t)=4/(1+t²)，精确值：π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51560"/>
          <a:ext cx="1120140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35661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h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近似积分值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绝对误差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3.000000000000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1.416e-01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1.000000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3.133333333333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8.259e-03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0.500000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3.100000000000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4.159e-02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0.250000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3.131176470588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1.042e-02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0.125000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3.138988494491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2.604e-03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16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0.062500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3.140941612041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6.510e-04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0.031250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3.141429893175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1.628e-04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64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0.015625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3.141551963486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4.069e-05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0.500000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3.133333333333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8.259e-03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0.250000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3.141568627451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2.403e-05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0.125000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3.141592502459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1.511e-07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16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0.062500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3.141592651225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2.365e-09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0.031250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3.141592653553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3.696e-11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64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0.015625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3.141592653589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5.773e-13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误差对比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复化辛普森误差下降最快</a:t>
            </a:r>
          </a:p>
        </p:txBody>
      </p:sp>
      <p:pic>
        <p:nvPicPr>
          <p:cNvPr id="6" name="Picture 5" descr="error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188720"/>
            <a:ext cx="5440680" cy="374903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280160"/>
          <a:ext cx="4663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方法</a:t>
                      </a:r>
                    </a:p>
                  </a:txBody>
                  <a:tcPr marL="27432" marR="27432" marT="18288" marB="18288" anchor="ctr"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代表误差</a:t>
                      </a:r>
                    </a:p>
                  </a:txBody>
                  <a:tcPr marL="27432" marR="27432" marT="18288" marB="18288" anchor="ctr">
                    <a:solidFill>
                      <a:srgbClr val="F28C2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1.416e-01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8.259e-03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 n=64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4.069e-05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 n=8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1.511e-07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 n=64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5.773e-13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709160"/>
            <a:ext cx="21488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73152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818888"/>
            <a:ext cx="18745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误差最大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5120640"/>
            <a:ext cx="187452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7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普通梯形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709160"/>
            <a:ext cx="2148840" cy="777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4709160"/>
            <a:ext cx="73152" cy="77724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4818888"/>
            <a:ext cx="187452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收敛最快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5120640"/>
            <a:ext cx="1874520" cy="27431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复化辛普森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误差-步长关系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双对数图可以直观看出收敛阶</a:t>
            </a:r>
          </a:p>
        </p:txBody>
      </p:sp>
      <p:pic>
        <p:nvPicPr>
          <p:cNvPr id="6" name="Picture 5" descr="conv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6537960" cy="4251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234440"/>
            <a:ext cx="32004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234440"/>
            <a:ext cx="73152" cy="73152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08392" y="1344168"/>
            <a:ext cx="29260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复化梯形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1645920"/>
            <a:ext cx="29260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误差约 O(h²)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2240280"/>
            <a:ext cx="32004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43800" y="2240280"/>
            <a:ext cx="73152" cy="73152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2350008"/>
            <a:ext cx="29260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复化辛普森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2651760"/>
            <a:ext cx="29260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误差约 O(h⁴)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246120"/>
            <a:ext cx="32004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3246120"/>
            <a:ext cx="73152" cy="73152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3355848"/>
            <a:ext cx="29260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步长减半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3657600"/>
            <a:ext cx="29260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梯形约降为 1/4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4251960"/>
            <a:ext cx="3200400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43800" y="4251960"/>
            <a:ext cx="73152" cy="731520"/>
          </a:xfrm>
          <a:prstGeom prst="rect">
            <a:avLst/>
          </a:prstGeom>
          <a:solidFill>
            <a:srgbClr val="1C5D99"/>
          </a:solidFill>
          <a:ln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4361688"/>
            <a:ext cx="29260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步长减半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4663440"/>
            <a:ext cx="2926080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辛普森约降为 1/16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收敛阶验证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观察步长减半后的误差比例</a:t>
            </a:r>
          </a:p>
        </p:txBody>
      </p:sp>
      <p:pic>
        <p:nvPicPr>
          <p:cNvPr id="6" name="Picture 5" descr="rat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6126480" cy="3886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86600" y="1234440"/>
          <a:ext cx="4114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n变化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梯形误差比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辛普森误差比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2→4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2.504e-01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2.909e-03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4→8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2.500e-01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6.290e-03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8→16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2.500e-01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1.565e-02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16→32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2.500e-01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1.563e-02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32→64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2.500e-01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1.562e-02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4892040"/>
            <a:ext cx="36576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4892040"/>
            <a:ext cx="73152" cy="6858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5001768"/>
            <a:ext cx="33832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5303520"/>
            <a:ext cx="3383280" cy="18287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复化辛普森收敛显著更快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计算量-精度对比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同样精度下，复化辛普森所需函数估值更少</a:t>
            </a:r>
          </a:p>
        </p:txBody>
      </p:sp>
      <p:pic>
        <p:nvPicPr>
          <p:cNvPr id="6" name="Picture 5" descr="co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6172200" cy="38862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1234440"/>
          <a:ext cx="4160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达到 10⁻⁶ 精度所需 n</a:t>
                      </a:r>
                    </a:p>
                  </a:txBody>
                  <a:tcPr marL="27432" marR="27432" marT="18288" marB="18288" anchor="ctr">
                    <a:solidFill>
                      <a:srgbClr val="00A89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无法达到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无法达到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 n=409；常取 512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最小 n=6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223760" y="4251960"/>
            <a:ext cx="1874519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4251960"/>
            <a:ext cx="73152" cy="73152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8352" y="4361688"/>
            <a:ext cx="1600199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高精度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8352" y="4663440"/>
            <a:ext cx="1600199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8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辛普森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4251960"/>
            <a:ext cx="1874519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26880" y="4251960"/>
            <a:ext cx="73152" cy="73152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4361688"/>
            <a:ext cx="1600199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低成本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4663440"/>
            <a:ext cx="1600199" cy="2286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7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少量节点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工程应用选择建议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根据函数光滑性、精度要求和计算资源选择算法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927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360"/>
                <a:gridCol w="3642360"/>
                <a:gridCol w="3642360"/>
              </a:tblGrid>
              <a:tr h="6629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工程场景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建议算法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原因</a:t>
                      </a:r>
                    </a:p>
                  </a:txBody>
                  <a:tcPr marL="27432" marR="27432" marT="18288" marB="18288" anchor="ctr">
                    <a:solidFill>
                      <a:srgbClr val="1C5D9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实时嵌入式系统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 n=4/8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高精度、低计算量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大规模仿真 CFD/FEM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收敛快，减少总耗时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实验离散数据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辛普森或梯形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视采样点数量而定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函数不光滑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更稳健，避免辛普森降阶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黑箱/昂贵模型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传统积分 + 代理模型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需交叉验证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60120" y="5532120"/>
            <a:ext cx="22860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5532120"/>
            <a:ext cx="73152" cy="68580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564184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首选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5943600"/>
            <a:ext cx="2011680" cy="18287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复化辛普森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5532120"/>
            <a:ext cx="22860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5532120"/>
            <a:ext cx="73152" cy="68580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564184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稳健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5943600"/>
            <a:ext cx="2011680" cy="18287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复化梯形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532120"/>
            <a:ext cx="22860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5532120"/>
            <a:ext cx="73152" cy="685800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1" y="564184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粗略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5943600"/>
            <a:ext cx="2011680" cy="18287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普通公式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5532120"/>
            <a:ext cx="2286000" cy="685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5532120"/>
            <a:ext cx="73152" cy="6858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5641848"/>
            <a:ext cx="20116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关键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5943600"/>
            <a:ext cx="2011680" cy="18287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5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误差阶指导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思考题精选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用关键词回答，便于汇报讲解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97180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26517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A4C93"/>
                </a:solidFill>
                <a:latin typeface="微软雅黑" panose="020B0503020204020204" charset="-122"/>
              </a:defRPr>
            </a:pPr>
            <a:r>
              <a:t>1. 辛普森为何三次精确？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26060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三次多项式 f⁽⁴⁾=0</a:t>
            </a:r>
          </a:p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截断误差为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297180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99032"/>
            <a:ext cx="26517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F28C28"/>
                </a:solidFill>
                <a:latin typeface="微软雅黑" panose="020B0503020204020204" charset="-122"/>
              </a:defRPr>
            </a:pPr>
            <a:r>
              <a:t>2. 两种复化误差阶为何不同？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92808"/>
            <a:ext cx="26060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插值阶不同</a:t>
            </a:r>
          </a:p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梯形 O(h²)，辛普森 O(h⁴)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297180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399032"/>
            <a:ext cx="26517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00A896"/>
                </a:solidFill>
                <a:latin typeface="微软雅黑" panose="020B0503020204020204" charset="-122"/>
              </a:defRPr>
            </a:pPr>
            <a:r>
              <a:t>3. 线性性工程意义？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892808"/>
            <a:ext cx="26060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复杂速度分量</a:t>
            </a:r>
          </a:p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可分别积分再叠加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794760"/>
            <a:ext cx="297180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9192" y="3959352"/>
            <a:ext cx="26517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E63946"/>
                </a:solidFill>
                <a:latin typeface="微软雅黑" panose="020B0503020204020204" charset="-122"/>
              </a:defRPr>
            </a:pPr>
            <a:r>
              <a:t>4. 机器学习积分优缺点？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453128"/>
            <a:ext cx="26060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预测快</a:t>
            </a:r>
          </a:p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但误差界弱、可解释性弱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297180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5D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3959352"/>
            <a:ext cx="265176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1C5D99"/>
                </a:solidFill>
                <a:latin typeface="微软雅黑" panose="020B0503020204020204" charset="-122"/>
              </a:defRPr>
            </a:pPr>
            <a:r>
              <a:t>5. 误差阶有什么作用？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453128"/>
            <a:ext cx="26060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预测所需 n</a:t>
            </a:r>
          </a:p>
          <a:p>
            <a:pPr algn="ctr">
              <a:defRPr sz="14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t>控制精度与成本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777240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749808"/>
            <a:ext cx="1143000" cy="54864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6126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100" b="0">
                <a:solidFill>
                  <a:srgbClr val="DCEEFF"/>
                </a:solidFill>
                <a:latin typeface="微软雅黑" panose="020B0503020204020204" charset="-122"/>
              </a:defRPr>
            </a:pPr>
            <a:r>
              <a:t>对于光滑函数，复化辛普森是精度与效率兼顾的首选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960120" y="1325880"/>
            <a:ext cx="2971800" cy="1097280"/>
          </a:xfrm>
          <a:prstGeom prst="roundRect">
            <a:avLst/>
          </a:prstGeom>
          <a:solidFill>
            <a:srgbClr val="13213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960120" y="1325880"/>
            <a:ext cx="73152" cy="1097280"/>
          </a:xfrm>
          <a:prstGeom prst="rect">
            <a:avLst/>
          </a:prstGeom>
          <a:solidFill>
            <a:srgbClr val="3FA7D6"/>
          </a:solidFill>
          <a:ln>
            <a:solidFill>
              <a:srgbClr val="3FA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1124712" y="1435607"/>
            <a:ext cx="26974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结论 1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1124712" y="1737360"/>
            <a:ext cx="2697480" cy="594359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复化公式可通过减小 h 提高精度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4617720" y="1325880"/>
            <a:ext cx="2971800" cy="1097280"/>
          </a:xfrm>
          <a:prstGeom prst="roundRect">
            <a:avLst/>
          </a:prstGeom>
          <a:solidFill>
            <a:srgbClr val="13213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4617720" y="1325880"/>
            <a:ext cx="73152" cy="1097280"/>
          </a:xfrm>
          <a:prstGeom prst="rect">
            <a:avLst/>
          </a:prstGeom>
          <a:solidFill>
            <a:srgbClr val="6A4C93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4782312" y="1435607"/>
            <a:ext cx="26974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结论 2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782312" y="1884362"/>
            <a:ext cx="2697480" cy="30035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7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rPr sz="1600">
                <a:solidFill>
                  <a:schemeClr val="bg1"/>
                </a:solidFill>
              </a:rPr>
              <a:t>复化辛普森收敛速度最快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8275320" y="1325880"/>
            <a:ext cx="2971800" cy="1097280"/>
          </a:xfrm>
          <a:prstGeom prst="roundRect">
            <a:avLst/>
          </a:prstGeom>
          <a:solidFill>
            <a:srgbClr val="13213F"/>
          </a:solidFill>
          <a:ln w="13970">
            <a:solidFill>
              <a:srgbClr val="D8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8275320" y="1325880"/>
            <a:ext cx="73152" cy="1097280"/>
          </a:xfrm>
          <a:prstGeom prst="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8439912" y="1435607"/>
            <a:ext cx="269748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defRPr sz="1200" b="1">
                <a:solidFill>
                  <a:srgbClr val="6C757D"/>
                </a:solidFill>
                <a:latin typeface="微软雅黑" panose="020B0503020204020204" charset="-122"/>
              </a:defRPr>
            </a:pPr>
            <a:r>
              <a:t>结论 3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8439912" y="1884362"/>
            <a:ext cx="2697480" cy="30035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defRPr sz="1600" b="1">
                <a:solidFill>
                  <a:srgbClr val="0B132B"/>
                </a:solidFill>
                <a:latin typeface="微软雅黑" panose="020B0503020204020204" charset="-122"/>
              </a:defRPr>
            </a:pPr>
            <a:r>
              <a:rPr>
                <a:solidFill>
                  <a:schemeClr val="bg1"/>
                </a:solidFill>
              </a:rPr>
              <a:t>误差阶直接指导步长选择</a:t>
            </a:r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017520" y="2971800"/>
          <a:ext cx="6126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0632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综合表现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</a:t>
                      </a:r>
                    </a:p>
                  </a:txBody>
                  <a:tcPr marL="27432" marR="27432" marT="18288" marB="18288" anchor="ctr">
                    <a:solidFill>
                      <a:srgbClr val="6A4C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★★★★★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复化辛普森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★★★☆☆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复化梯形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★★☆☆☆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普通辛普森</a:t>
                      </a:r>
                    </a:p>
                  </a:txBody>
                  <a:tcPr marL="27432" marR="27432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★☆☆☆☆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11111"/>
                          </a:solidFill>
                          <a:latin typeface="微软雅黑" panose="020B0503020204020204" charset="-122"/>
                        </a:defRPr>
                      </a:pPr>
                      <a:r>
                        <a:t>普通梯形</a:t>
                      </a:r>
                    </a:p>
                  </a:txBody>
                  <a:tcPr marL="27432" marR="27432" marT="18288" marB="18288" anchor="ctr"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749039" y="5715000"/>
            <a:ext cx="47548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THANKS  / 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defRPr sz="900" b="0">
                <a:solidFill>
                  <a:srgbClr val="BFD7EA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2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3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4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5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6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7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8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9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10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11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ags/tag12.xml><?xml version="1.0" encoding="utf-8"?>
<p:tagLst xmlns:p="http://schemas.openxmlformats.org/presentationml/2006/main">
  <p:tag name="KSO_WM_DIAGRAM_VIRTUALLY_FRAME" val="{&quot;height&quot;:86.4,&quot;left&quot;:75.6,&quot;top&quot;:104.4,&quot;width&quot;:81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2876</Words>
  <Application>WPS 演示</Application>
  <PresentationFormat>On-screen Show (4:3)</PresentationFormat>
  <Paragraphs>803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Elk</cp:lastModifiedBy>
  <cp:revision>4</cp:revision>
  <dcterms:created xsi:type="dcterms:W3CDTF">2013-01-27T09:14:00Z</dcterms:created>
  <dcterms:modified xsi:type="dcterms:W3CDTF">2026-06-03T17:47:32Z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7C960016A4A146ADA992FFB72821BFBE_12</vt:lpwstr>
  </property>
  <property fmtid="{D5CDD505-2E9C-101B-9397-08002B2CF9AE}" pid="3" name="KSOProductBuildVer">
    <vt:lpwstr>2052-12.1.0.26375</vt:lpwstr>
  </property>
</Properties>
</file>