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1.png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1.png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E293B"/>
                </a:solidFill>
                <a:latin typeface="微软雅黑" panose="020B0503020204020204" charset="-122"/>
              </a:rPr>
              <a:t>数值积分算法设计与实现</a:t>
            </a:r>
            <a:endParaRPr sz="36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75569"/>
                </a:solidFill>
                <a:latin typeface="微软雅黑" panose="020B0503020204020204" charset="-122"/>
              </a:rPr>
              <a:t>梯形公式 · 辛普森公式 · 复化求积 · 工程误差分析</a:t>
            </a:r>
            <a:endParaRPr sz="18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>
            <p:custDataLst>
              <p:tags r:id="rId1"/>
            </p:custDataLst>
          </p:nvPr>
        </p:nvSpPr>
        <p:spPr>
          <a:xfrm>
            <a:off x="7132320" y="1965960"/>
            <a:ext cx="40233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7132320" y="1965960"/>
            <a:ext cx="73152" cy="8229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7296912" y="2093976"/>
            <a:ext cx="3749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工程问题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>
            <p:custDataLst>
              <p:tags r:id="rId4"/>
            </p:custDataLst>
          </p:nvPr>
        </p:nvSpPr>
        <p:spPr>
          <a:xfrm>
            <a:off x="7296912" y="2377440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滑块位移积分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>
            <p:custDataLst>
              <p:tags r:id="rId5"/>
            </p:custDataLst>
          </p:nvPr>
        </p:nvSpPr>
        <p:spPr>
          <a:xfrm>
            <a:off x="7132320" y="2971800"/>
            <a:ext cx="40233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>
            <p:custDataLst>
              <p:tags r:id="rId6"/>
            </p:custDataLst>
          </p:nvPr>
        </p:nvSpPr>
        <p:spPr>
          <a:xfrm>
            <a:off x="7132320" y="2971800"/>
            <a:ext cx="73152" cy="82296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>
            <p:custDataLst>
              <p:tags r:id="rId7"/>
            </p:custDataLst>
          </p:nvPr>
        </p:nvSpPr>
        <p:spPr>
          <a:xfrm>
            <a:off x="7296912" y="3099816"/>
            <a:ext cx="3749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精确值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8"/>
            </p:custDataLst>
          </p:nvPr>
        </p:nvSpPr>
        <p:spPr>
          <a:xfrm>
            <a:off x="7296912" y="3383280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S = π ≈ 3.1415926536 m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>
            <p:custDataLst>
              <p:tags r:id="rId9"/>
            </p:custDataLst>
          </p:nvPr>
        </p:nvSpPr>
        <p:spPr>
          <a:xfrm>
            <a:off x="7132320" y="3977639"/>
            <a:ext cx="40233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>
            <p:custDataLst>
              <p:tags r:id="rId10"/>
            </p:custDataLst>
          </p:nvPr>
        </p:nvSpPr>
        <p:spPr>
          <a:xfrm>
            <a:off x="7132320" y="3977639"/>
            <a:ext cx="73152" cy="82296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>
            <p:custDataLst>
              <p:tags r:id="rId11"/>
            </p:custDataLst>
          </p:nvPr>
        </p:nvSpPr>
        <p:spPr>
          <a:xfrm>
            <a:off x="7296912" y="4105655"/>
            <a:ext cx="3749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对比算法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>
            <p:custDataLst>
              <p:tags r:id="rId12"/>
            </p:custDataLst>
          </p:nvPr>
        </p:nvSpPr>
        <p:spPr>
          <a:xfrm>
            <a:off x="7296912" y="4389120"/>
            <a:ext cx="397383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E293B"/>
                </a:solidFill>
                <a:latin typeface="微软雅黑" panose="020B0503020204020204" charset="-122"/>
              </a:rPr>
              <a:t>普通梯形 / 普通辛普森 / 复化梯形 / 复化辛普森</a:t>
            </a:r>
            <a:endParaRPr sz="14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微软雅黑" panose="020B0503020204020204" charset="-122"/>
              </a:rPr>
              <a:t>01</a:t>
            </a:r>
            <a:endParaRPr sz="10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6265" y="1765935"/>
            <a:ext cx="6049010" cy="332676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994910" y="5335905"/>
            <a:ext cx="3399790" cy="9175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组长（吴瑞东）</a:t>
            </a:r>
            <a:r>
              <a:rPr lang="en-US" altLang="zh-CN"/>
              <a:t> </a:t>
            </a:r>
            <a:r>
              <a:rPr lang="zh-CN" altLang="en-US"/>
              <a:t>组员（余眈阳）</a:t>
            </a:r>
            <a:endParaRPr lang="zh-CN" altLang="en-US"/>
          </a:p>
          <a:p>
            <a:r>
              <a:rPr lang="zh-CN" altLang="en-US"/>
              <a:t>组员（饶宇佳）组员（刘家乐）</a:t>
            </a:r>
            <a:endParaRPr lang="zh-CN" altLang="en-US"/>
          </a:p>
          <a:p>
            <a:r>
              <a:rPr lang="zh-CN" altLang="en-US"/>
              <a:t>组员（周亚辉）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293B"/>
                </a:solidFill>
                <a:latin typeface="微软雅黑" panose="020B0503020204020204" charset="-122"/>
              </a:rPr>
              <a:t>工程背景：位移 = 速度曲线下的面积</a:t>
            </a:r>
            <a:endParaRPr sz="26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685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微软雅黑" panose="020B0503020204020204" charset="-122"/>
              </a:rPr>
              <a:t>非线性速度函数在 [0,1] 秒内的定积分</a:t>
            </a:r>
            <a:endParaRPr sz="13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635240" y="1325880"/>
          <a:ext cx="35661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项目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数值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v(t)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4 / (1 + t²)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积分区间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[0, 1] s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精确位移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π m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误差定义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|近似值 - π|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>
            <p:custDataLst>
              <p:tags r:id="rId1"/>
            </p:custDataLst>
          </p:nvPr>
        </p:nvSpPr>
        <p:spPr>
          <a:xfrm>
            <a:off x="7635240" y="3703320"/>
            <a:ext cx="35661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>
            <p:custDataLst>
              <p:tags r:id="rId2"/>
            </p:custDataLst>
          </p:nvPr>
        </p:nvSpPr>
        <p:spPr>
          <a:xfrm>
            <a:off x="7635240" y="3703320"/>
            <a:ext cx="73152" cy="77724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3"/>
            </p:custDataLst>
          </p:nvPr>
        </p:nvSpPr>
        <p:spPr>
          <a:xfrm>
            <a:off x="7799831" y="3831335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核心任务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4"/>
            </p:custDataLst>
          </p:nvPr>
        </p:nvSpPr>
        <p:spPr>
          <a:xfrm>
            <a:off x="7799831" y="411480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比较算法精度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>
            <p:custDataLst>
              <p:tags r:id="rId5"/>
            </p:custDataLst>
          </p:nvPr>
        </p:nvSpPr>
        <p:spPr>
          <a:xfrm>
            <a:off x="7635240" y="4617720"/>
            <a:ext cx="35661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>
            <p:custDataLst>
              <p:tags r:id="rId6"/>
            </p:custDataLst>
          </p:nvPr>
        </p:nvSpPr>
        <p:spPr>
          <a:xfrm>
            <a:off x="7635240" y="4617720"/>
            <a:ext cx="73152" cy="77724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7"/>
            </p:custDataLst>
          </p:nvPr>
        </p:nvSpPr>
        <p:spPr>
          <a:xfrm>
            <a:off x="7799831" y="4745736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关键变量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8"/>
            </p:custDataLst>
          </p:nvPr>
        </p:nvSpPr>
        <p:spPr>
          <a:xfrm>
            <a:off x="7799831" y="502920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步长 h = 1/n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>
            <p:custDataLst>
              <p:tags r:id="rId9"/>
            </p:custDataLst>
          </p:nvPr>
        </p:nvSpPr>
        <p:spPr>
          <a:xfrm>
            <a:off x="7635240" y="5532120"/>
            <a:ext cx="35661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>
            <p:custDataLst>
              <p:tags r:id="rId10"/>
            </p:custDataLst>
          </p:nvPr>
        </p:nvSpPr>
        <p:spPr>
          <a:xfrm>
            <a:off x="7635240" y="5532120"/>
            <a:ext cx="73152" cy="77724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>
            <p:custDataLst>
              <p:tags r:id="rId11"/>
            </p:custDataLst>
          </p:nvPr>
        </p:nvSpPr>
        <p:spPr>
          <a:xfrm>
            <a:off x="7799831" y="5660136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工程判断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>
            <p:custDataLst>
              <p:tags r:id="rId12"/>
            </p:custDataLst>
          </p:nvPr>
        </p:nvSpPr>
        <p:spPr>
          <a:xfrm>
            <a:off x="7799831" y="594360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是否满足 10⁻³ m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微软雅黑" panose="020B0503020204020204" charset="-122"/>
              </a:rPr>
              <a:t>02</a:t>
            </a:r>
            <a:endParaRPr sz="10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4040" y="1215390"/>
            <a:ext cx="6049010" cy="33267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293B"/>
                </a:solidFill>
                <a:latin typeface="微软雅黑" panose="020B0503020204020204" charset="-122"/>
              </a:rPr>
              <a:t>四种算法：从整段近似到分段近似</a:t>
            </a:r>
            <a:endParaRPr sz="26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685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微软雅黑" panose="020B0503020204020204" charset="-122"/>
              </a:rPr>
              <a:t>直线近似与抛物线近似是精度差异的根源</a:t>
            </a:r>
            <a:endParaRPr sz="13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method_sketc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43000"/>
            <a:ext cx="6858000" cy="2841777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635240" y="1325880"/>
          <a:ext cx="3840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960120"/>
                <a:gridCol w="960120"/>
                <a:gridCol w="96012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方法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节点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近似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误差特征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2563E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普通梯形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整段直线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较大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普通辛普森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整段抛物线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较小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复化梯形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n+1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分段直线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O(h²)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复化辛普森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n+1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分段抛物线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一般 O(h⁴)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5240" y="4343400"/>
            <a:ext cx="3840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35240" y="4343400"/>
            <a:ext cx="73152" cy="77724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99831" y="4471416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本题特殊现象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99831" y="475488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复化辛普森表现接近 O(h⁶)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635240" y="5257800"/>
            <a:ext cx="3840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35240" y="5257800"/>
            <a:ext cx="73152" cy="77724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9831" y="5385816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主要原因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99831" y="566928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h⁴ 误差主项抵消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微软雅黑" panose="020B0503020204020204" charset="-122"/>
              </a:rPr>
              <a:t>03</a:t>
            </a:r>
            <a:endParaRPr sz="10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293B"/>
                </a:solidFill>
                <a:latin typeface="微软雅黑" panose="020B0503020204020204" charset="-122"/>
              </a:rPr>
              <a:t>实验流程</a:t>
            </a:r>
            <a:endParaRPr sz="26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685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微软雅黑" panose="020B0503020204020204" charset="-122"/>
              </a:rPr>
              <a:t>从公式推导到工程精度判断</a:t>
            </a:r>
            <a:endParaRPr sz="13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2377440"/>
            <a:ext cx="1645920" cy="96012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建立模型
S=∫v(t)dt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ight Arrow 6"/>
          <p:cNvSpPr/>
          <p:nvPr/>
        </p:nvSpPr>
        <p:spPr>
          <a:xfrm>
            <a:off x="2377440" y="2606040"/>
            <a:ext cx="411480" cy="457200"/>
          </a:xfrm>
          <a:prstGeom prst="rightArrow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926080" y="2377440"/>
            <a:ext cx="1645920" cy="960120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编写算法
4类公式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4617720" y="2606040"/>
            <a:ext cx="411480" cy="457200"/>
          </a:xfrm>
          <a:prstGeom prst="rightArrow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66360" y="2377440"/>
            <a:ext cx="1645920" cy="960120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改变 n
计算误差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6858000" y="2606040"/>
            <a:ext cx="411480" cy="457200"/>
          </a:xfrm>
          <a:prstGeom prst="rightArrow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06640" y="2377440"/>
            <a:ext cx="1645920" cy="96012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绘制图表
观察规律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9098280" y="2606040"/>
            <a:ext cx="411480" cy="457200"/>
          </a:xfrm>
          <a:prstGeom prst="rightArrow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646920" y="2377440"/>
            <a:ext cx="1645920" cy="960120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工程判定
是否达标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005840" y="4206240"/>
            <a:ext cx="2926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05840" y="4206240"/>
            <a:ext cx="73152" cy="9144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0432" y="4334255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输入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70432" y="461772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v(t)=4/(1+t²)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572000" y="4206240"/>
            <a:ext cx="2926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0" y="4206240"/>
            <a:ext cx="73152" cy="91440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36592" y="4334255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输出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736592" y="461772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数值结果 + 绝对误差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138160" y="4206240"/>
            <a:ext cx="2926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38160" y="4206240"/>
            <a:ext cx="73152" cy="91440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02752" y="4334255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评价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302752" y="461772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精度 / 收敛 / 计算量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微软雅黑" panose="020B0503020204020204" charset="-122"/>
              </a:rPr>
              <a:t>04</a:t>
            </a:r>
            <a:endParaRPr sz="10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293B"/>
                </a:solidFill>
                <a:latin typeface="微软雅黑" panose="020B0503020204020204" charset="-122"/>
              </a:rPr>
              <a:t>普通公式结果：辛普森明显优于梯形</a:t>
            </a:r>
            <a:endParaRPr sz="26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685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微软雅黑" panose="020B0503020204020204" charset="-122"/>
              </a:rPr>
              <a:t>两种公式都只在整个区间上求积一次</a:t>
            </a:r>
            <a:endParaRPr sz="13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234440"/>
          <a:ext cx="475488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960"/>
                <a:gridCol w="1584960"/>
                <a:gridCol w="1584960"/>
              </a:tblGrid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方法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数值结果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绝对误差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2563EB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普通梯形</a:t>
                      </a:r>
                      <a:endParaRPr sz="13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3.0000000000</a:t>
                      </a:r>
                      <a:endParaRPr sz="13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1.416e-01</a:t>
                      </a:r>
                      <a:endParaRPr sz="13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普通辛普森</a:t>
                      </a:r>
                      <a:endParaRPr sz="13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3.1333333333</a:t>
                      </a:r>
                      <a:endParaRPr sz="13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8.259e-03</a:t>
                      </a:r>
                      <a:endParaRPr sz="13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8680" y="3154680"/>
            <a:ext cx="45262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3154680"/>
            <a:ext cx="73152" cy="86868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3282696"/>
            <a:ext cx="4251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结论 1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33271" y="3566160"/>
            <a:ext cx="425196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普通辛普森误差约为普通梯形的 5.8%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68680" y="4251960"/>
            <a:ext cx="45262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4251960"/>
            <a:ext cx="73152" cy="86868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4379976"/>
            <a:ext cx="4251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结论 2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33271" y="4663440"/>
            <a:ext cx="425196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抛物线近似更适合非线性函数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68680" y="5349240"/>
            <a:ext cx="45262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5349240"/>
            <a:ext cx="73152" cy="86868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1" y="5477255"/>
            <a:ext cx="4251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但仍不足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33271" y="5760720"/>
            <a:ext cx="425196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普通辛普森未达到 10⁻³ m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微软雅黑" panose="020B0503020204020204" charset="-122"/>
              </a:rPr>
              <a:t>05</a:t>
            </a:r>
            <a:endParaRPr sz="10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2094230"/>
            <a:ext cx="6410960" cy="31762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293B"/>
                </a:solidFill>
                <a:latin typeface="微软雅黑" panose="020B0503020204020204" charset="-122"/>
              </a:rPr>
              <a:t>复化求积结果总览</a:t>
            </a:r>
            <a:endParaRPr sz="26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685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微软雅黑" panose="020B0503020204020204" charset="-122"/>
              </a:rPr>
              <a:t>等分数 n 增大，步长 h 减小，误差快速下降</a:t>
            </a:r>
            <a:endParaRPr sz="13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15568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55517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n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复化梯形 Tn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误差T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复化辛普森 Sn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误差S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2563EB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3.100000000000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4.159e-02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3.133333333333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8.259e-03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3.131176470588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1.042e-02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3.141568627451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2.403e-05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8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3.138988494491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2.604e-03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3.141592502459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1.511e-07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16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3.140941612041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6.510e-04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3.141592651225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2.365e-09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32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3.141429893175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1.628e-04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3.141592653553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3.696e-11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55517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64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3.141551963486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4.069e-05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3.141592653589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5.769e-13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14400" y="5440680"/>
            <a:ext cx="31089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5440680"/>
            <a:ext cx="73152" cy="7772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5568696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复化梯形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78992" y="5852160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n=16 达到 10⁻³ m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0" y="5440680"/>
            <a:ext cx="31089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5440680"/>
            <a:ext cx="73152" cy="77724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36592" y="5568696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复化辛普森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736592" y="5852160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n=4 已达到 10⁻³ m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229600" y="5440680"/>
            <a:ext cx="31089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5440680"/>
            <a:ext cx="73152" cy="77724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5568696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综合表现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94192" y="5852160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辛普森精度最高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微软雅黑" panose="020B0503020204020204" charset="-122"/>
              </a:rPr>
              <a:t>06</a:t>
            </a:r>
            <a:endParaRPr sz="10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293B"/>
                </a:solidFill>
                <a:latin typeface="微软雅黑" panose="020B0503020204020204" charset="-122"/>
              </a:rPr>
              <a:t>误差—步长关系</a:t>
            </a:r>
            <a:endParaRPr sz="26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685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微软雅黑" panose="020B0503020204020204" charset="-122"/>
              </a:rPr>
              <a:t>步长 h 越小，复化公式误差越低</a:t>
            </a:r>
            <a:endParaRPr sz="13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error_ste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51560"/>
            <a:ext cx="7863840" cy="458507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915400" y="1417320"/>
            <a:ext cx="24688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15400" y="1417320"/>
            <a:ext cx="73152" cy="8229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79992" y="1545336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复化梯形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079992" y="18288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≈ O(h²)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915400" y="2514600"/>
            <a:ext cx="24688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15400" y="2514600"/>
            <a:ext cx="73152" cy="82296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9992" y="2642616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复化辛普森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079992" y="29260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本题 ≈ O(h⁶)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915400" y="3611880"/>
            <a:ext cx="24688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15400" y="3611880"/>
            <a:ext cx="73152" cy="82296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9992" y="3739896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普通公式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079992" y="402336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误差不随 n 变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915400" y="4709160"/>
            <a:ext cx="24688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15400" y="4709160"/>
            <a:ext cx="73152" cy="82296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79992" y="4837176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图像结论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079992" y="512064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辛普森下降最快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微软雅黑" panose="020B0503020204020204" charset="-122"/>
              </a:rPr>
              <a:t>07</a:t>
            </a:r>
            <a:endParaRPr sz="10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293B"/>
                </a:solidFill>
                <a:latin typeface="微软雅黑" panose="020B0503020204020204" charset="-122"/>
              </a:rPr>
              <a:t>误差—计算量对比</a:t>
            </a:r>
            <a:endParaRPr sz="26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685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微软雅黑" panose="020B0503020204020204" charset="-122"/>
              </a:rPr>
              <a:t>相同计算量下，复化辛普森误差更小</a:t>
            </a:r>
            <a:endParaRPr sz="13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error_cos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51560"/>
            <a:ext cx="7863840" cy="460641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915400" y="1417320"/>
            <a:ext cx="24688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15400" y="1417320"/>
            <a:ext cx="73152" cy="8229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79992" y="1545336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计算量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079992" y="18288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约 O(n)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915400" y="2514600"/>
            <a:ext cx="24688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15400" y="2514600"/>
            <a:ext cx="73152" cy="82296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9992" y="2642616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梯形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079992" y="29260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稳定但收敛慢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915400" y="3611880"/>
            <a:ext cx="24688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15400" y="3611880"/>
            <a:ext cx="73152" cy="82296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9992" y="3739896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辛普森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079992" y="402336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高精度高效率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915400" y="4709160"/>
            <a:ext cx="24688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15400" y="4709160"/>
            <a:ext cx="73152" cy="8229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79992" y="4837176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推荐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079992" y="512064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优先复化辛普森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微软雅黑" panose="020B0503020204020204" charset="-122"/>
              </a:rPr>
              <a:t>08</a:t>
            </a:r>
            <a:endParaRPr sz="10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293B"/>
                </a:solidFill>
                <a:latin typeface="微软雅黑" panose="020B0503020204020204" charset="-122"/>
              </a:rPr>
              <a:t>收敛速度验证</a:t>
            </a:r>
            <a:endParaRPr sz="26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685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微软雅黑" panose="020B0503020204020204" charset="-122"/>
              </a:rPr>
              <a:t>n 翻倍时，误差缩小倍数反映误差阶</a:t>
            </a:r>
            <a:endParaRPr sz="13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convergence_rati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51560"/>
            <a:ext cx="6858000" cy="3839754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909560" y="1234440"/>
          <a:ext cx="352044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3480"/>
                <a:gridCol w="1173480"/>
                <a:gridCol w="1173480"/>
              </a:tblGrid>
              <a:tr h="5410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区间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梯形误差比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辛普森误差比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2563EB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2→4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4.0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343.8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4→8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4.0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159.0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8→16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4.0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63.9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16→32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4.0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64.0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32→64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4.0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64.1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909560" y="4800600"/>
            <a:ext cx="35204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09560" y="4800600"/>
            <a:ext cx="73152" cy="8229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74152" y="4928616"/>
            <a:ext cx="3246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理论观察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74152" y="5212080"/>
            <a:ext cx="3253105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293B"/>
                </a:solidFill>
                <a:latin typeface="微软雅黑" panose="020B0503020204020204" charset="-122"/>
              </a:rPr>
              <a:t>梯形约 4 倍，辛普森后期约 64 倍</a:t>
            </a:r>
            <a:endParaRPr sz="16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微软雅黑" panose="020B0503020204020204" charset="-122"/>
              </a:rPr>
              <a:t>09</a:t>
            </a:r>
            <a:endParaRPr sz="10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293B"/>
                </a:solidFill>
                <a:latin typeface="微软雅黑" panose="020B0503020204020204" charset="-122"/>
              </a:rPr>
              <a:t>为什么本题复化辛普森下降特别快？</a:t>
            </a:r>
            <a:endParaRPr sz="26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685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微软雅黑" panose="020B0503020204020204" charset="-122"/>
              </a:rPr>
              <a:t>原因：四阶误差主项恰好抵消</a:t>
            </a:r>
            <a:endParaRPr sz="13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1143000"/>
            <a:ext cx="5212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143000"/>
            <a:ext cx="73152" cy="10515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271016"/>
            <a:ext cx="4937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误差展开式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583680" y="1143000"/>
          <a:ext cx="393192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965960"/>
              </a:tblGrid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项目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端点结果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7C3AED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f'''(0)</a:t>
                      </a:r>
                      <a:endParaRPr sz="13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0</a:t>
                      </a:r>
                      <a:endParaRPr sz="13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f'''(1)</a:t>
                      </a:r>
                      <a:endParaRPr sz="13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0</a:t>
                      </a:r>
                      <a:endParaRPr sz="13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f⁽⁵⁾(0)</a:t>
                      </a:r>
                      <a:endParaRPr sz="13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0</a:t>
                      </a:r>
                      <a:endParaRPr sz="13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f⁽⁵⁾(1)</a:t>
                      </a:r>
                      <a:endParaRPr sz="13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60</a:t>
                      </a:r>
                      <a:endParaRPr sz="13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77240" y="2788920"/>
            <a:ext cx="5212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788920"/>
            <a:ext cx="73152" cy="91440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916936"/>
            <a:ext cx="4937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关键抵消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09772" y="3244850"/>
            <a:ext cx="87249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项消失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77240" y="4069080"/>
            <a:ext cx="5212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69080"/>
            <a:ext cx="73152" cy="91440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197096"/>
            <a:ext cx="4937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真实主项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583680" y="4069080"/>
            <a:ext cx="3931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4069080"/>
            <a:ext cx="73152" cy="91440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48272" y="4197096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步长减半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748272" y="44805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误差约缩小 2⁶ = 64 倍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微软雅黑" panose="020B0503020204020204" charset="-122"/>
              </a:rPr>
              <a:t>10</a:t>
            </a:r>
            <a:endParaRPr sz="10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945" y="1609090"/>
            <a:ext cx="4798695" cy="46037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945" y="3175635"/>
            <a:ext cx="2343150" cy="42989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2190" y="4197350"/>
            <a:ext cx="2129155" cy="7181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293B"/>
                </a:solidFill>
                <a:latin typeface="微软雅黑" panose="020B0503020204020204" charset="-122"/>
              </a:rPr>
              <a:t>工程精度判定</a:t>
            </a:r>
            <a:endParaRPr sz="26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685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微软雅黑" panose="020B0503020204020204" charset="-122"/>
              </a:rPr>
              <a:t>以 10⁻³ m 和 10⁻⁴ m 为精度要求</a:t>
            </a:r>
            <a:endParaRPr sz="13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engineering_threshol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51560"/>
            <a:ext cx="7040880" cy="4109898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001000" y="1325880"/>
          <a:ext cx="33375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2520"/>
                <a:gridCol w="1112520"/>
                <a:gridCol w="1112520"/>
              </a:tblGrid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算法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10⁻³ m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10⁻⁴ m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2563E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普通梯形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未达标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未达标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普通辛普森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未达标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未达标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复化梯形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n=16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n=64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复化辛普森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n=4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n=4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001000" y="4343400"/>
            <a:ext cx="33375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01000" y="4343400"/>
            <a:ext cx="73152" cy="82296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65592" y="4471416"/>
            <a:ext cx="3063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工程推荐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165592" y="475488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复化辛普森 n=4 即可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001000" y="5349240"/>
            <a:ext cx="33375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01000" y="5349240"/>
            <a:ext cx="73152" cy="82296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5477255"/>
            <a:ext cx="3063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原因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165592" y="576072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较少节点获得高精度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微软雅黑" panose="020B0503020204020204" charset="-122"/>
              </a:rPr>
              <a:t>11</a:t>
            </a:r>
            <a:endParaRPr sz="10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293B"/>
                </a:solidFill>
                <a:latin typeface="微软雅黑" panose="020B0503020204020204" charset="-122"/>
              </a:rPr>
              <a:t>四种算法综合对比</a:t>
            </a:r>
            <a:endParaRPr sz="26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685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微软雅黑" panose="020B0503020204020204" charset="-122"/>
              </a:rPr>
              <a:t>精度、计算量、适用场景对比</a:t>
            </a:r>
            <a:endParaRPr sz="13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143000"/>
          <a:ext cx="110642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57607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方法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近似思想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计算量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精度表现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适用场景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2563EB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普通梯形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整段直线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极低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最低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快速粗估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普通辛普森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整段抛物线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很低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中等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初步精算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复化梯形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分段直线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O(n)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稳定收敛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简单可靠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复化辛普森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分段抛物线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O(n)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最高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工程优选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68680" y="4617720"/>
            <a:ext cx="30175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4617720"/>
            <a:ext cx="73152" cy="86868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4745736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精度最高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33271" y="5029200"/>
            <a:ext cx="274320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复化辛普森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0" y="4617720"/>
            <a:ext cx="30175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4617720"/>
            <a:ext cx="73152" cy="8686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36592" y="4745736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实现最简单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736592" y="5029200"/>
            <a:ext cx="274320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复化梯形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275320" y="4617720"/>
            <a:ext cx="30175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75320" y="4617720"/>
            <a:ext cx="73152" cy="86868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4745736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工程建议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439912" y="5029200"/>
            <a:ext cx="274320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精度优先选辛普森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微软雅黑" panose="020B0503020204020204" charset="-122"/>
              </a:rPr>
              <a:t>12</a:t>
            </a:r>
            <a:endParaRPr sz="10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293B"/>
                </a:solidFill>
                <a:latin typeface="微软雅黑" panose="020B0503020204020204" charset="-122"/>
              </a:rPr>
              <a:t>Python 程序结构</a:t>
            </a:r>
            <a:endParaRPr sz="26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685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微软雅黑" panose="020B0503020204020204" charset="-122"/>
              </a:rPr>
              <a:t>模块化实现，便于复用和扩展</a:t>
            </a:r>
            <a:endParaRPr sz="13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143000"/>
          <a:ext cx="475488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</a:tblGrid>
              <a:tr h="56170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模块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功能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2563EB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v(t)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定义速度函数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trapezoid_single()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普通梯形公式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simpson_single()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普通辛普森公式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composite_trapezoid()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复化梯形公式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composite_simpson()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复化辛普森公式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56170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plot / ppt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绘图并生成汇报 PPT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0" y="1417320"/>
            <a:ext cx="1920240" cy="73152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输入函数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8458200" y="1572768"/>
            <a:ext cx="502920" cy="384048"/>
          </a:xfrm>
          <a:prstGeom prst="rightArrow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0" y="1417320"/>
            <a:ext cx="1920240" cy="731520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选择算法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800" y="2743200"/>
            <a:ext cx="1920240" cy="731520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循环 n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8458200" y="2898648"/>
            <a:ext cx="502920" cy="384048"/>
          </a:xfrm>
          <a:prstGeom prst="rightArrow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0" y="2743200"/>
            <a:ext cx="1920240" cy="73152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计算误差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微软雅黑" panose="020B0503020204020204" charset="-122"/>
              </a:rPr>
              <a:t>13</a:t>
            </a:r>
            <a:endParaRPr sz="10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293B"/>
                </a:solidFill>
                <a:latin typeface="微软雅黑" panose="020B0503020204020204" charset="-122"/>
              </a:rPr>
              <a:t>实验结论</a:t>
            </a:r>
            <a:endParaRPr sz="26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48463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234440"/>
            <a:ext cx="73152" cy="9144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362456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1. 普通公式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41832" y="16459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辛普森明显优于梯形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800" y="1234440"/>
            <a:ext cx="48463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234440"/>
            <a:ext cx="73152" cy="91440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362456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2. 复化求积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65392" y="16459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减小步长可显著降低误差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77240" y="2651760"/>
            <a:ext cx="48463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651760"/>
            <a:ext cx="73152" cy="91440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779776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3. 收敛速度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41832" y="30632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复化梯形约 O(h²)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400800" y="2651760"/>
            <a:ext cx="48463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2651760"/>
            <a:ext cx="73152" cy="9144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2779776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4. 本题特殊性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65392" y="30632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复化辛普森表现接近 O(h⁶)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77240" y="4069080"/>
            <a:ext cx="48463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69080"/>
            <a:ext cx="73152" cy="91440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" y="4197096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5. 工程精度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41832" y="44805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10⁻³ m 要求下，辛普森 n=4 即达标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400800" y="4069080"/>
            <a:ext cx="48463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4069080"/>
            <a:ext cx="73152" cy="9144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65392" y="4197096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6. 综合推荐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565392" y="44805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精度优先选择复化辛普森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05840" y="5806440"/>
            <a:ext cx="102412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293B"/>
                </a:solidFill>
                <a:latin typeface="黑体" panose="02010609060101010101" charset="-122"/>
                <a:ea typeface="黑体" panose="02010609060101010101" charset="-122"/>
              </a:rPr>
              <a:t>结论：复化辛普森公式在本实验中兼具高精度、快收敛和较低计算成本。</a:t>
            </a:r>
            <a:endParaRPr sz="1800" b="1">
              <a:solidFill>
                <a:srgbClr val="1E293B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微软雅黑" panose="020B0503020204020204" charset="-122"/>
              </a:rPr>
              <a:t>14</a:t>
            </a:r>
            <a:endParaRPr sz="10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02.4,&quot;left&quot;:561.6,&quot;top&quot;:154.8,&quot;width&quot;:538.11}"/>
</p:tagLst>
</file>

<file path=ppt/tags/tag2.xml><?xml version="1.0" encoding="utf-8"?>
<p:tagLst xmlns:p="http://schemas.openxmlformats.org/presentationml/2006/main">
  <p:tag name="KSO_WM_DIAGRAM_VIRTUALLY_FRAME" val="{&quot;height&quot;:302.4,&quot;left&quot;:561.6,&quot;top&quot;:154.8,&quot;width&quot;:538.11}"/>
</p:tagLst>
</file>

<file path=ppt/tags/tag3.xml><?xml version="1.0" encoding="utf-8"?>
<p:tagLst xmlns:p="http://schemas.openxmlformats.org/presentationml/2006/main">
  <p:tag name="KSO_WM_DIAGRAM_VIRTUALLY_FRAME" val="{&quot;height&quot;:302.4,&quot;left&quot;:561.6,&quot;top&quot;:154.8,&quot;width&quot;:538.11}"/>
</p:tagLst>
</file>

<file path=ppt/tags/tag4.xml><?xml version="1.0" encoding="utf-8"?>
<p:tagLst xmlns:p="http://schemas.openxmlformats.org/presentationml/2006/main">
  <p:tag name="KSO_WM_DIAGRAM_VIRTUALLY_FRAME" val="{&quot;height&quot;:302.4,&quot;left&quot;:561.6,&quot;top&quot;:154.8,&quot;width&quot;:538.11}"/>
</p:tagLst>
</file>

<file path=ppt/tags/tag5.xml><?xml version="1.0" encoding="utf-8"?>
<p:tagLst xmlns:p="http://schemas.openxmlformats.org/presentationml/2006/main">
  <p:tag name="KSO_WM_DIAGRAM_VIRTUALLY_FRAME" val="{&quot;height&quot;:302.4,&quot;left&quot;:561.6,&quot;top&quot;:154.8,&quot;width&quot;:538.11}"/>
</p:tagLst>
</file>

<file path=ppt/tags/tag6.xml><?xml version="1.0" encoding="utf-8"?>
<p:tagLst xmlns:p="http://schemas.openxmlformats.org/presentationml/2006/main">
  <p:tag name="KSO_WM_DIAGRAM_VIRTUALLY_FRAME" val="{&quot;height&quot;:302.4,&quot;left&quot;:561.6,&quot;top&quot;:154.8,&quot;width&quot;:538.11}"/>
</p:tagLst>
</file>

<file path=ppt/tags/tag7.xml><?xml version="1.0" encoding="utf-8"?>
<p:tagLst xmlns:p="http://schemas.openxmlformats.org/presentationml/2006/main">
  <p:tag name="KSO_WM_DIAGRAM_VIRTUALLY_FRAME" val="{&quot;height&quot;:302.4,&quot;left&quot;:561.6,&quot;top&quot;:154.8,&quot;width&quot;:538.11}"/>
</p:tagLst>
</file>

<file path=ppt/tags/tag8.xml><?xml version="1.0" encoding="utf-8"?>
<p:tagLst xmlns:p="http://schemas.openxmlformats.org/presentationml/2006/main">
  <p:tag name="KSO_WM_DIAGRAM_VIRTUALLY_FRAME" val="{&quot;height&quot;:302.4,&quot;left&quot;:561.6,&quot;top&quot;:154.8,&quot;width&quot;:538.11}"/>
</p:tagLst>
</file>

<file path=ppt/tags/tag9.xml><?xml version="1.0" encoding="utf-8"?>
<p:tagLst xmlns:p="http://schemas.openxmlformats.org/presentationml/2006/main">
  <p:tag name="KSO_WM_DIAGRAM_VIRTUALLY_FRAME" val="{&quot;height&quot;:302.4,&quot;left&quot;:561.6,&quot;top&quot;:154.8,&quot;width&quot;:538.11}"/>
</p:tagLst>
</file>

<file path=ppt/tags/tag10.xml><?xml version="1.0" encoding="utf-8"?>
<p:tagLst xmlns:p="http://schemas.openxmlformats.org/presentationml/2006/main">
  <p:tag name="KSO_WM_DIAGRAM_VIRTUALLY_FRAME" val="{&quot;height&quot;:302.4,&quot;left&quot;:561.6,&quot;top&quot;:154.8,&quot;width&quot;:538.11}"/>
</p:tagLst>
</file>

<file path=ppt/tags/tag11.xml><?xml version="1.0" encoding="utf-8"?>
<p:tagLst xmlns:p="http://schemas.openxmlformats.org/presentationml/2006/main">
  <p:tag name="KSO_WM_DIAGRAM_VIRTUALLY_FRAME" val="{&quot;height&quot;:302.4,&quot;left&quot;:561.6,&quot;top&quot;:154.8,&quot;width&quot;:538.11}"/>
</p:tagLst>
</file>

<file path=ppt/tags/tag12.xml><?xml version="1.0" encoding="utf-8"?>
<p:tagLst xmlns:p="http://schemas.openxmlformats.org/presentationml/2006/main">
  <p:tag name="KSO_WM_DIAGRAM_VIRTUALLY_FRAME" val="{&quot;height&quot;:302.4,&quot;left&quot;:561.6,&quot;top&quot;:154.8,&quot;width&quot;:538.11}"/>
</p:tagLst>
</file>

<file path=ppt/tags/tag13.xml><?xml version="1.0" encoding="utf-8"?>
<p:tagLst xmlns:p="http://schemas.openxmlformats.org/presentationml/2006/main">
  <p:tag name="KSO_WM_DIAGRAM_VIRTUALLY_FRAME" val="{&quot;height&quot;:205.4,&quot;left&quot;:601.2,&quot;top&quot;:291.6,&quot;width&quot;:280.8}"/>
</p:tagLst>
</file>

<file path=ppt/tags/tag14.xml><?xml version="1.0" encoding="utf-8"?>
<p:tagLst xmlns:p="http://schemas.openxmlformats.org/presentationml/2006/main">
  <p:tag name="KSO_WM_DIAGRAM_VIRTUALLY_FRAME" val="{&quot;height&quot;:205.4,&quot;left&quot;:601.2,&quot;top&quot;:291.6,&quot;width&quot;:280.8}"/>
</p:tagLst>
</file>

<file path=ppt/tags/tag15.xml><?xml version="1.0" encoding="utf-8"?>
<p:tagLst xmlns:p="http://schemas.openxmlformats.org/presentationml/2006/main">
  <p:tag name="KSO_WM_DIAGRAM_VIRTUALLY_FRAME" val="{&quot;height&quot;:205.4,&quot;left&quot;:601.2,&quot;top&quot;:291.6,&quot;width&quot;:280.8}"/>
</p:tagLst>
</file>

<file path=ppt/tags/tag16.xml><?xml version="1.0" encoding="utf-8"?>
<p:tagLst xmlns:p="http://schemas.openxmlformats.org/presentationml/2006/main">
  <p:tag name="KSO_WM_DIAGRAM_VIRTUALLY_FRAME" val="{&quot;height&quot;:205.4,&quot;left&quot;:601.2,&quot;top&quot;:291.6,&quot;width&quot;:280.8}"/>
</p:tagLst>
</file>

<file path=ppt/tags/tag17.xml><?xml version="1.0" encoding="utf-8"?>
<p:tagLst xmlns:p="http://schemas.openxmlformats.org/presentationml/2006/main">
  <p:tag name="KSO_WM_DIAGRAM_VIRTUALLY_FRAME" val="{&quot;height&quot;:205.4,&quot;left&quot;:601.2,&quot;top&quot;:291.6,&quot;width&quot;:280.8}"/>
</p:tagLst>
</file>

<file path=ppt/tags/tag18.xml><?xml version="1.0" encoding="utf-8"?>
<p:tagLst xmlns:p="http://schemas.openxmlformats.org/presentationml/2006/main">
  <p:tag name="KSO_WM_DIAGRAM_VIRTUALLY_FRAME" val="{&quot;height&quot;:205.4,&quot;left&quot;:601.2,&quot;top&quot;:291.6,&quot;width&quot;:280.8}"/>
</p:tagLst>
</file>

<file path=ppt/tags/tag19.xml><?xml version="1.0" encoding="utf-8"?>
<p:tagLst xmlns:p="http://schemas.openxmlformats.org/presentationml/2006/main">
  <p:tag name="KSO_WM_DIAGRAM_VIRTUALLY_FRAME" val="{&quot;height&quot;:205.4,&quot;left&quot;:601.2,&quot;top&quot;:291.6,&quot;width&quot;:280.8}"/>
</p:tagLst>
</file>

<file path=ppt/tags/tag20.xml><?xml version="1.0" encoding="utf-8"?>
<p:tagLst xmlns:p="http://schemas.openxmlformats.org/presentationml/2006/main">
  <p:tag name="KSO_WM_DIAGRAM_VIRTUALLY_FRAME" val="{&quot;height&quot;:205.4,&quot;left&quot;:601.2,&quot;top&quot;:291.6,&quot;width&quot;:280.8}"/>
</p:tagLst>
</file>

<file path=ppt/tags/tag21.xml><?xml version="1.0" encoding="utf-8"?>
<p:tagLst xmlns:p="http://schemas.openxmlformats.org/presentationml/2006/main">
  <p:tag name="KSO_WM_DIAGRAM_VIRTUALLY_FRAME" val="{&quot;height&quot;:205.4,&quot;left&quot;:601.2,&quot;top&quot;:291.6,&quot;width&quot;:280.8}"/>
</p:tagLst>
</file>

<file path=ppt/tags/tag22.xml><?xml version="1.0" encoding="utf-8"?>
<p:tagLst xmlns:p="http://schemas.openxmlformats.org/presentationml/2006/main">
  <p:tag name="KSO_WM_DIAGRAM_VIRTUALLY_FRAME" val="{&quot;height&quot;:205.4,&quot;left&quot;:601.2,&quot;top&quot;:291.6,&quot;width&quot;:280.8}"/>
</p:tagLst>
</file>

<file path=ppt/tags/tag23.xml><?xml version="1.0" encoding="utf-8"?>
<p:tagLst xmlns:p="http://schemas.openxmlformats.org/presentationml/2006/main">
  <p:tag name="KSO_WM_DIAGRAM_VIRTUALLY_FRAME" val="{&quot;height&quot;:205.4,&quot;left&quot;:601.2,&quot;top&quot;:291.6,&quot;width&quot;:280.8}"/>
</p:tagLst>
</file>

<file path=ppt/tags/tag24.xml><?xml version="1.0" encoding="utf-8"?>
<p:tagLst xmlns:p="http://schemas.openxmlformats.org/presentationml/2006/main">
  <p:tag name="KSO_WM_DIAGRAM_VIRTUALLY_FRAME" val="{&quot;height&quot;:205.4,&quot;left&quot;:601.2,&quot;top&quot;:291.6,&quot;width&quot;:280.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2023</Words>
  <Application>WPS 演示</Application>
  <PresentationFormat>On-screen Show (4:3)</PresentationFormat>
  <Paragraphs>578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宋体</vt:lpstr>
      <vt:lpstr>Wingdings</vt:lpstr>
      <vt:lpstr>Arial</vt:lpstr>
      <vt:lpstr>微软雅黑</vt:lpstr>
      <vt:lpstr>黑体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Elk</cp:lastModifiedBy>
  <cp:revision>8</cp:revision>
  <dcterms:created xsi:type="dcterms:W3CDTF">2013-01-27T09:14:00Z</dcterms:created>
  <dcterms:modified xsi:type="dcterms:W3CDTF">2026-06-04T04:34:12Z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8D8B3D6B5DFC4DB896BE25FC54682462_12</vt:lpwstr>
  </property>
</Properties>
</file>