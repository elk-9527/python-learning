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0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.png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293B"/>
                </a:solidFill>
                <a:latin typeface="微软雅黑" panose="020B0503020204020204" charset="-122"/>
              </a:rPr>
              <a:t>数值积分算法设计与实现</a:t>
            </a:r>
            <a:endParaRPr sz="3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75569"/>
                </a:solidFill>
                <a:latin typeface="微软雅黑" panose="020B0503020204020204" charset="-122"/>
              </a:rPr>
              <a:t>梯形公式 · 辛普森公式 · 复化求积 · 工程误差分析</a:t>
            </a:r>
            <a:endParaRPr sz="18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7132320" y="1965960"/>
            <a:ext cx="4023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7132320" y="1965960"/>
            <a:ext cx="73152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7296912" y="2093976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工程问题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7296912" y="237744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滑块位移积分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5"/>
            </p:custDataLst>
          </p:nvPr>
        </p:nvSpPr>
        <p:spPr>
          <a:xfrm>
            <a:off x="7132320" y="2971800"/>
            <a:ext cx="4023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6"/>
            </p:custDataLst>
          </p:nvPr>
        </p:nvSpPr>
        <p:spPr>
          <a:xfrm>
            <a:off x="7132320" y="2971800"/>
            <a:ext cx="73152" cy="8229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7296912" y="3099816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精确值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7296912" y="338328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S = π ≈ 3.1415926536 m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9"/>
            </p:custDataLst>
          </p:nvPr>
        </p:nvSpPr>
        <p:spPr>
          <a:xfrm>
            <a:off x="7132320" y="3977639"/>
            <a:ext cx="4023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10"/>
            </p:custDataLst>
          </p:nvPr>
        </p:nvSpPr>
        <p:spPr>
          <a:xfrm>
            <a:off x="7132320" y="3977639"/>
            <a:ext cx="73152" cy="822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7296912" y="4105655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对比算法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7296912" y="4389120"/>
            <a:ext cx="397383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E293B"/>
                </a:solidFill>
                <a:latin typeface="微软雅黑" panose="020B0503020204020204" charset="-122"/>
              </a:rPr>
              <a:t>普通梯形 / 普通辛普森 / 复化梯形 / 复化辛普森</a:t>
            </a:r>
            <a:endParaRPr sz="14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01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6265" y="1765935"/>
            <a:ext cx="6049010" cy="33267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工程背景：位移 = 速度曲线下的面积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非线性速度函数在 [0,1] 秒内的定积分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35240" y="1325880"/>
          <a:ext cx="35661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项目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数值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v(t)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 / (1 + t²)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积分区间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[0, 1] s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精确位移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π m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误差定义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|近似值 - π|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7635240" y="3703320"/>
            <a:ext cx="35661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7635240" y="3703320"/>
            <a:ext cx="73152" cy="7772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7799831" y="3831335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核心任务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7799831" y="41148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比较算法精度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7635240" y="4617720"/>
            <a:ext cx="35661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7635240" y="4617720"/>
            <a:ext cx="73152" cy="7772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7799831" y="4745736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关键变量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7799831" y="50292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步长 h = 1/n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7635240" y="5532120"/>
            <a:ext cx="35661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10"/>
            </p:custDataLst>
          </p:nvPr>
        </p:nvSpPr>
        <p:spPr>
          <a:xfrm>
            <a:off x="7635240" y="5532120"/>
            <a:ext cx="73152" cy="7772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7799831" y="5660136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工程判断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7799831" y="59436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是否满足 10⁻³ m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02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4040" y="1215390"/>
            <a:ext cx="6049010" cy="33267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四种算法：从整段近似到分段近似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直线近似与抛物线近似是精度差异的根源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method_sket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6858000" cy="284177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35240" y="1325880"/>
          <a:ext cx="3840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60120"/>
                <a:gridCol w="960120"/>
                <a:gridCol w="9601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方法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节点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近似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误差特征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普通梯形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整段直线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较大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普通辛普森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整段抛物线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较小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复化梯形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n+1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分段直线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O(h²)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复化辛普森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n+1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分段抛物线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一般 O(h⁴)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4343400"/>
            <a:ext cx="3840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4343400"/>
            <a:ext cx="73152" cy="7772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4471416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本题特殊现象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99831" y="475488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复化辛普森表现接近 O(h⁶)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635240" y="5257800"/>
            <a:ext cx="3840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5257800"/>
            <a:ext cx="73152" cy="7772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5385816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主要原因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99831" y="566928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h⁴ 误差主项抵消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03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实验流程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从公式推导到工程精度判断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2377440"/>
            <a:ext cx="1645920" cy="9601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建立模型
S=∫v(t)dt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2377440" y="2606040"/>
            <a:ext cx="411480" cy="4572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26080" y="2377440"/>
            <a:ext cx="1645920" cy="96012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编写算法
4类公式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617720" y="2606040"/>
            <a:ext cx="411480" cy="4572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66360" y="2377440"/>
            <a:ext cx="1645920" cy="96012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改变 n
计算误差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6858000" y="2606040"/>
            <a:ext cx="411480" cy="4572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0" y="2377440"/>
            <a:ext cx="1645920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绘制图表
观察规律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9098280" y="2606040"/>
            <a:ext cx="411480" cy="45720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46920" y="2377440"/>
            <a:ext cx="1645920" cy="96012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工程判定
是否达标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05840" y="420624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206240"/>
            <a:ext cx="73152" cy="914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4334255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输入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70432" y="46177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v(t)=4/(1+t²)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0" y="420624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4206240"/>
            <a:ext cx="73152" cy="9144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4334255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输出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36592" y="46177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数值结果 + 绝对误差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138160" y="420624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420624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4334255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评价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02752" y="46177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精度 / 收敛 / 计算量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04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普通公式结果：辛普森明显优于梯形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两种公式都只在整个区间上求积一次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234440"/>
          <a:ext cx="47548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方法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数值结果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绝对误差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普通梯形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3.0000000000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1.416e-01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普通辛普森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3.1333333333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8.259e-03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3154680"/>
            <a:ext cx="4526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54680"/>
            <a:ext cx="73152" cy="8686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282696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结论 1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33271" y="3566160"/>
            <a:ext cx="42519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普通辛普森误差约为普通梯形的 5.8%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4251960"/>
            <a:ext cx="4526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251960"/>
            <a:ext cx="73152" cy="8686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4379976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结论 2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1" y="4663440"/>
            <a:ext cx="42519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抛物线近似更适合非线性函数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8680" y="5349240"/>
            <a:ext cx="4526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5349240"/>
            <a:ext cx="73152" cy="8686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5477255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但仍不足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3271" y="5760720"/>
            <a:ext cx="42519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普通辛普森未达到 10⁻³ m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05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2094230"/>
            <a:ext cx="6410960" cy="3176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复化求积结果总览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等分数 n 增大，步长 h 减小，误差快速下降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n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复化梯形 Tn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误差T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复化辛普森 Sn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误差S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3.100000000000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4.159e-02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3.133333333333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8.259e-03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3.131176470588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1.042e-02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3.141568627451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2.403e-05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3.138988494491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2.604e-03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3.141592502459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1.511e-07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16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3.140941612041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6.510e-04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3.141592651225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2.365e-09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32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3.141429893175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1.628e-04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3.141592653553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3.696e-11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5517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64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3.141551963486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4.069e-05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3.141592653589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5.769e-13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440680"/>
            <a:ext cx="3108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5440680"/>
            <a:ext cx="73152" cy="777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5568696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复化梯形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8992" y="585216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n=16 达到 10⁻³ m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5440680"/>
            <a:ext cx="3108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5440680"/>
            <a:ext cx="73152" cy="7772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5568696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复化辛普森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36592" y="585216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n=4 已达到 10⁻³ m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0" y="5440680"/>
            <a:ext cx="3108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5440680"/>
            <a:ext cx="73152" cy="7772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5568696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综合表现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94192" y="585216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辛普森精度最高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06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误差—步长关系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步长 h 越小，复化公式误差越低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error_ste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7863840" cy="45850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915400" y="141732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1417320"/>
            <a:ext cx="73152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79992" y="1545336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复化梯形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79992" y="1828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≈ O(h²)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915400" y="251460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15400" y="2514600"/>
            <a:ext cx="73152" cy="822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2642616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复化辛普森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79992" y="2926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本题 ≈ O(h⁶)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915400" y="361188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15400" y="3611880"/>
            <a:ext cx="73152" cy="8229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3739896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普通公式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79992" y="40233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误差不随 n 变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15400" y="470916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4709160"/>
            <a:ext cx="73152" cy="8229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4837176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图像结论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79992" y="51206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辛普森下降最快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07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误差—计算量对比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相同计算量下，复化辛普森误差更小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error_co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7863840" cy="46064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915400" y="141732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15400" y="1417320"/>
            <a:ext cx="73152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79992" y="1545336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计算量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79992" y="18288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约 O(n)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915400" y="251460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15400" y="2514600"/>
            <a:ext cx="73152" cy="822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2642616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梯形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79992" y="2926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稳定但收敛慢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915400" y="361188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15400" y="3611880"/>
            <a:ext cx="73152" cy="8229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3739896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辛普森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79992" y="40233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高精度高效率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15400" y="470916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4709160"/>
            <a:ext cx="73152" cy="822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4837176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推荐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79992" y="51206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优先复化辛普森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08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收敛速度验证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n 翻倍时，误差缩小倍数反映误差阶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convergence_rat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6858000" cy="383975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09560" y="1234440"/>
          <a:ext cx="352044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80"/>
                <a:gridCol w="1173480"/>
                <a:gridCol w="1173480"/>
              </a:tblGrid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区间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梯形误差比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辛普森误差比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2→4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4.0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343.8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4→8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4.0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159.0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8→16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4.0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63.9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16→32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4.0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64.0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32→64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4.0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64.1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09560" y="4800600"/>
            <a:ext cx="3520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09560" y="4800600"/>
            <a:ext cx="73152" cy="822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4152" y="4928616"/>
            <a:ext cx="3246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理论观察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74152" y="5212080"/>
            <a:ext cx="325310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  <a:latin typeface="微软雅黑" panose="020B0503020204020204" charset="-122"/>
              </a:rPr>
              <a:t>梯形约 4 倍，辛普森后期约 64 倍</a:t>
            </a:r>
            <a:endParaRPr sz="1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09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为什么本题复化辛普森下降特别快？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原因：四阶误差主项恰好抵消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14300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43000"/>
            <a:ext cx="73152" cy="10515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271016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误差展开式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0" y="1143000"/>
          <a:ext cx="39319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项目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端点结果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7C3AED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f'''(0)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0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f'''(1)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0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f⁽⁵⁾(0)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0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f⁽⁵⁾(1)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60</a:t>
                      </a:r>
                      <a:endParaRPr sz="13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77240" y="27889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88920"/>
            <a:ext cx="73152" cy="9144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916936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关键抵消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09772" y="3244850"/>
            <a:ext cx="8724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项消失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7240" y="406908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69080"/>
            <a:ext cx="73152" cy="9144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197096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真实主项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0" y="4069080"/>
            <a:ext cx="3931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406908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4197096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步长减半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48272" y="4480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误差约缩小 2⁶ = 64 倍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10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945" y="1609090"/>
            <a:ext cx="4798695" cy="46037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45" y="3175635"/>
            <a:ext cx="2343150" cy="42989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190" y="4197350"/>
            <a:ext cx="2129155" cy="7181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工程精度判定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以 10⁻³ m 和 10⁻⁴ m 为精度要求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engineering_thresh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7040880" cy="410989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01000" y="1325880"/>
          <a:ext cx="3337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520"/>
                <a:gridCol w="1112520"/>
                <a:gridCol w="111252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算法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10⁻³ m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10⁻⁴ m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普通梯形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未达标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未达标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普通辛普森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未达标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未达标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复化梯形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n=16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n=64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复化辛普森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n=4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n=4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01000" y="4343400"/>
            <a:ext cx="3337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1000" y="4343400"/>
            <a:ext cx="73152" cy="8229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4471416"/>
            <a:ext cx="3063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工程推荐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65592" y="475488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复化辛普森 n=4 即可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01000" y="5349240"/>
            <a:ext cx="3337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5349240"/>
            <a:ext cx="73152" cy="822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5477255"/>
            <a:ext cx="3063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原因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65592" y="576072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较少节点获得高精度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11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四种算法综合对比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精度、计算量、适用场景对比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1064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方法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近似思想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计算量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精度表现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适用场景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普通梯形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整段直线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极低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最低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快速粗估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普通辛普森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整段抛物线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很低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中等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初步精算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复化梯形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分段直线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O(n)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稳定收敛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简单可靠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复化辛普森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分段抛物线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O(n)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最高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工程优选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617720"/>
            <a:ext cx="3017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617720"/>
            <a:ext cx="73152" cy="8686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4745736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精度最高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271" y="5029200"/>
            <a:ext cx="274320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复化辛普森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4617720"/>
            <a:ext cx="3017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617720"/>
            <a:ext cx="73152" cy="868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4745736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实现最简单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36592" y="5029200"/>
            <a:ext cx="274320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复化梯形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75320" y="4617720"/>
            <a:ext cx="3017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4617720"/>
            <a:ext cx="73152" cy="8686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4745736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工程建议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39912" y="5029200"/>
            <a:ext cx="274320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精度优先选辛普森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12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Python 程序结构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模块化实现，便于复用和扩展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143000"/>
          <a:ext cx="47548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模块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功能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2563EB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v(t)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定义速度函数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trapezoid_single()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普通梯形公式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simpson_single()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普通辛普森公式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composite_trapezoid()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复化梯形公式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composite_simpson()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复化辛普森公式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plot / ppt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</a:rPr>
                        <a:t>绘图并生成汇报 PPT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</a:endParaRPr>
                    </a:p>
                  </a:txBody>
                  <a:tcPr marL="36576" marR="36576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417320"/>
            <a:ext cx="1920240" cy="7315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输入函数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8458200" y="1572768"/>
            <a:ext cx="502920" cy="384048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0" y="1417320"/>
            <a:ext cx="1920240" cy="73152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选择算法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1920240" cy="73152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循环 n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8458200" y="2898648"/>
            <a:ext cx="502920" cy="384048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0" y="2743200"/>
            <a:ext cx="1920240" cy="7315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计算误差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13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微软雅黑" panose="020B0503020204020204" charset="-122"/>
              </a:rPr>
              <a:t>实验结论</a:t>
            </a:r>
            <a:endParaRPr sz="26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少文字总结版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73152" cy="914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362456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1. 普通公式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1832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辛普森明显优于梯形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0" y="123444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234440"/>
            <a:ext cx="73152" cy="9144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362456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2. 复化求积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65392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减小步长可显著降低误差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265176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65176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779776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3. 收敛速度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41832" y="3063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复化梯形约 O(h²)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0" y="265176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651760"/>
            <a:ext cx="73152" cy="9144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2779776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4. 本题特殊性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65392" y="3063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复化辛普森表现接近 O(h⁶)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73152" cy="9144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197096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5. 工程精度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1832" y="4480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10⁻³ m 要求下，辛普森 n=4 即达标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0" y="406908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069080"/>
            <a:ext cx="73152" cy="914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4197096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6. 综合推荐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65392" y="4480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精度优先选择复化辛普森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5840" y="5806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93B"/>
                </a:solidFill>
                <a:latin typeface="微软雅黑" panose="020B0503020204020204" charset="-122"/>
              </a:rPr>
              <a:t>结论：复化辛普森公式在本实验中兼具高精度、快收敛和较低计算成本。</a:t>
            </a:r>
            <a:endParaRPr sz="18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微软雅黑" panose="020B0503020204020204" charset="-122"/>
              </a:rPr>
              <a:t>14</a:t>
            </a:r>
            <a:endParaRPr sz="10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2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3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4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5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6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7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8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9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10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11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12.xml><?xml version="1.0" encoding="utf-8"?>
<p:tagLst xmlns:p="http://schemas.openxmlformats.org/presentationml/2006/main">
  <p:tag name="KSO_WM_DIAGRAM_VIRTUALLY_FRAME" val="{&quot;height&quot;:302.4,&quot;left&quot;:561.6,&quot;top&quot;:154.8,&quot;width&quot;:538.11}"/>
</p:tagLst>
</file>

<file path=ppt/tags/tag13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14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15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16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17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18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19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20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21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22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23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ags/tag24.xml><?xml version="1.0" encoding="utf-8"?>
<p:tagLst xmlns:p="http://schemas.openxmlformats.org/presentationml/2006/main">
  <p:tag name="KSO_WM_DIAGRAM_VIRTUALLY_FRAME" val="{&quot;height&quot;:205.4,&quot;left&quot;:601.2,&quot;top&quot;:291.6,&quot;width&quot;:280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1993</Words>
  <Application>WPS 演示</Application>
  <PresentationFormat>On-screen Show (4:3)</PresentationFormat>
  <Paragraphs>576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Elk</cp:lastModifiedBy>
  <cp:revision>5</cp:revision>
  <dcterms:created xsi:type="dcterms:W3CDTF">2013-01-27T09:14:00Z</dcterms:created>
  <dcterms:modified xsi:type="dcterms:W3CDTF">2026-06-03T17:40:09Z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8D8B3D6B5DFC4DB896BE25FC54682462_12</vt:lpwstr>
  </property>
</Properties>
</file>