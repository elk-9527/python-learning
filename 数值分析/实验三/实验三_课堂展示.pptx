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2560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B82F6"/>
                </a:solidFill>
              </a:defRPr>
            </a:pPr>
            <a:r>
              <a:t>实验三</a:t>
            </a:r>
          </a:p>
          <a:p>
            <a:pPr>
              <a:lnSpc>
                <a:spcPts val="5200"/>
              </a:lnSpc>
              <a:defRPr sz="3800" b="1">
                <a:solidFill>
                  <a:srgbClr val="1A56DB"/>
                </a:solidFill>
              </a:defRPr>
            </a:pPr>
            <a:r>
              <a:t>单细胞基因表达最小二乘拟合</a:t>
            </a:r>
            <a:br/>
            <a:r>
              <a:t>及细胞分化轨迹解析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数值分析  ·  单细胞生物信息学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98670"/>
            <a:ext cx="9418320" cy="2090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▸  高可变基因筛选与标准化预处理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▸  K-means基因聚类降维（轮廓系数优化）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▸  基于生物标签的时间点分配策略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▸  最小二乘多项式拟合 + Lasso正则化对比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▸  5折交叉验证选择最优 λ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▸  负对照实验 + 基因投票轨迹排序验证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2011680"/>
            <a:ext cx="3200400" cy="5943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实验背景与目的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6217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单细胞RNA-seq技术 · 双分支分化机制 · 五大实验目标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926080"/>
            <a:ext cx="3200400" cy="5943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实验原理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926080"/>
            <a:ext cx="6217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HVG筛选 · 标准化 · K-means聚类 · 时间点分配 · 最小二乘拟合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3840480"/>
            <a:ext cx="3200400" cy="5943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实验步骤与代码实现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840480"/>
            <a:ext cx="6217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数据预处理 → 基因聚类 → 时间点分配 → 曲线拟合 → 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754880"/>
            <a:ext cx="3200400" cy="5943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实验结果与分析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754880"/>
            <a:ext cx="6217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拟合效果 · OLS vs Lasso · 负对照 · 轨迹排序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669280"/>
            <a:ext cx="64008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669280"/>
            <a:ext cx="3200400" cy="5943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讨论与结论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5669280"/>
            <a:ext cx="62179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6B7280"/>
                </a:solidFill>
              </a:defRPr>
            </a:pPr>
            <a:r>
              <a:t>关键发现总结 · 方法反思 · 改进方向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01  实验背景与目的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单细胞RNA-seq技术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●  突破传统 bulk RNA-seq 群体平均化分析局限</a:t>
            </a:r>
            <a:br/>
            <a:r>
              <a:t>●  清晰呈现细胞间的异质性</a:t>
            </a:r>
            <a:br/>
            <a:r>
              <a:t>●  捕捉细胞分化过程中基因表达的连续动态变化</a:t>
            </a:r>
            <a:br/>
            <a:r>
              <a:t>●  细胞标签直接对应分化状态，为时序分析提供基础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572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双分支分化机制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造血干细胞(HSC)：</a:t>
            </a:r>
            <a:br/>
            <a:r>
              <a:t>  HSC → MPP → 髓系(GMP→单核/粒细胞)</a:t>
            </a:r>
            <a:br/>
            <a:r>
              <a:t>              → 淋巴系(CLP→T/B细胞)</a:t>
            </a:r>
            <a:br/>
            <a:br/>
            <a:r>
              <a:t>神经干细胞(NSC)：</a:t>
            </a:r>
            <a:br/>
            <a:r>
              <a:t>  NSC → NPC → 神经元(MAP2↑)</a:t>
            </a:r>
            <a:br/>
            <a:r>
              <a:t>              → 胶质细胞(GFAP↑)</a:t>
            </a:r>
            <a:br/>
            <a:br/>
            <a:r>
              <a:t>核心思路：通过基因拟合趋势</a:t>
            </a:r>
            <a:br/>
            <a:r>
              <a:t>捕捉分支特异表达差异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98480" cy="457200"/>
          </a:xfrm>
          <a:prstGeom prst="roundRect">
            <a:avLst/>
          </a:prstGeom>
          <a:solidFill>
            <a:srgbClr val="D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500" b="1">
                <a:solidFill>
                  <a:srgbClr val="1A56DB"/>
                </a:solidFill>
              </a:defRPr>
            </a:pPr>
            <a:r>
              <a:t>五大实验目的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1. 掌握HVG筛选与标准化预处理          2. 运用最小二乘多项式拟合方法          3. 基于细胞标签进行时间点分配</a:t>
            </a:r>
            <a:br/>
            <a:r>
              <a:t>4. 理解基于基因拟合趋势的轨迹排序方法       5. 通过假设检验与相关性分析验证实验结果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02  实验原理 — HVG筛选与标准化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高可变基因(HVG)筛选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●  目的：保留表达变异大、反映异质性的基因</a:t>
            </a:r>
            <a:br/>
            <a:r>
              <a:t>●  剔除低表达、无差异的冗余基因，减少计算量</a:t>
            </a:r>
            <a:br/>
            <a:r>
              <a:t>●  保留变异系数(CV)最大的前 25% 基因</a:t>
            </a:r>
            <a:br/>
            <a:br/>
            <a:r>
              <a:t>CVᵢ = σᵢ / (μᵢ + ε)</a:t>
            </a:r>
            <a:br/>
            <a:r>
              <a:t>  σᵢ = 标准差    μᵢ = 均值    ε = 10⁻⁸</a:t>
            </a:r>
            <a:br/>
            <a:br/>
            <a:r>
              <a:t>筛选后：2000 cells × 1000 genes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Seurat 标准化处理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●  目的：消除细胞测序深度差异</a:t>
            </a:r>
            <a:br/>
            <a:r>
              <a:t>●  使不同细胞的基因表达量具有可比性</a:t>
            </a:r>
            <a:br/>
            <a:br/>
            <a:r>
              <a:t>Xⁿᵒʳᵐᵢⱼ = ln(1 + Xᵢⱼ / ΣₖXₖⱼ × 10000)</a:t>
            </a:r>
            <a:br/>
            <a:br/>
            <a:r>
              <a:t>  ① 除以总读数 → 归一化</a:t>
            </a:r>
            <a:br/>
            <a:r>
              <a:t>  ② 乘以10000 → 缩放</a:t>
            </a:r>
            <a:br/>
            <a:r>
              <a:t>  ③ ln(1+x) → 对数转换降低极端值影响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50495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Aft>
                <a:spcPts val="100"/>
              </a:spcAft>
              <a:defRPr sz="1200">
                <a:solidFill>
                  <a:srgbClr val="E2E8F0"/>
                </a:solidFill>
                <a:latin typeface="Consolas" panose="020B0609020204030204"/>
              </a:defRPr>
            </a:pPr>
            <a:r>
              <a:t># HVG筛选</a:t>
            </a:r>
          </a:p>
          <a:p>
            <a:pPr>
              <a:spcAft>
                <a:spcPts val="100"/>
              </a:spcAft>
              <a:defRPr sz="1200">
                <a:solidFill>
                  <a:srgbClr val="E2E8F0"/>
                </a:solidFill>
                <a:latin typeface="Consolas" panose="020B0609020204030204"/>
              </a:defRPr>
            </a:pPr>
            <a:r>
              <a:t>cv = expr_df.std(axis=0) / (expr_df.mean(axis=0) + 1e-8)</a:t>
            </a:r>
          </a:p>
          <a:p>
            <a:pPr>
              <a:spcAft>
                <a:spcPts val="100"/>
              </a:spcAft>
              <a:defRPr sz="1200">
                <a:solidFill>
                  <a:srgbClr val="E2E8F0"/>
                </a:solidFill>
                <a:latin typeface="Consolas" panose="020B0609020204030204"/>
              </a:defRPr>
            </a:pPr>
            <a:r>
              <a:t>hvg_genes = cv.nlargest(n_hvg).index</a:t>
            </a:r>
          </a:p>
          <a:p>
            <a:pPr>
              <a:spcAft>
                <a:spcPts val="100"/>
              </a:spcAft>
              <a:defRPr sz="1200">
                <a:solidFill>
                  <a:srgbClr val="E2E8F0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2E8F0"/>
                </a:solidFill>
                <a:latin typeface="Consolas" panose="020B0609020204030204"/>
              </a:defRPr>
            </a:pPr>
            <a:r>
              <a:t># 标准化</a:t>
            </a:r>
          </a:p>
          <a:p>
            <a:pPr>
              <a:spcAft>
                <a:spcPts val="100"/>
              </a:spcAft>
              <a:defRPr sz="1200">
                <a:solidFill>
                  <a:srgbClr val="E2E8F0"/>
                </a:solidFill>
                <a:latin typeface="Consolas" panose="020B0609020204030204"/>
              </a:defRPr>
            </a:pPr>
            <a:r>
              <a:t>total_counts = expr_hvg.sum(axis=1)</a:t>
            </a:r>
          </a:p>
          <a:p>
            <a:pPr>
              <a:spcAft>
                <a:spcPts val="100"/>
              </a:spcAft>
              <a:defRPr sz="1200">
                <a:solidFill>
                  <a:srgbClr val="E2E8F0"/>
                </a:solidFill>
                <a:latin typeface="Consolas" panose="020B0609020204030204"/>
              </a:defRPr>
            </a:pPr>
            <a:r>
              <a:t>norm_expr = np.log1p(expr_hvg.div(total_counts, axis=0) * 10000)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02  实验原理 — K-means基因聚类降维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为什么需要降维？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●  HVG筛选后仍有 1000 维基因</a:t>
            </a:r>
            <a:br/>
            <a:r>
              <a:t>●  逐个基因拟合计算量大且易过拟合</a:t>
            </a:r>
            <a:br/>
            <a:r>
              <a:t>●  表达模式相似的基因归入同一模块</a:t>
            </a:r>
            <a:br/>
            <a:r>
              <a:t>●  用模块中心向量替代单个基因拟合</a:t>
            </a:r>
            <a:br/>
            <a:r>
              <a:t>●  赋予拟合结果生物学意义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K-means 目标函数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目标函数：最小化模块内平方和误差</a:t>
            </a:r>
            <a:br/>
            <a:br/>
            <a:r>
              <a:t>SSE = Σᴄ Σₓ∈Cᴄ ‖x_gi − μ_c‖²</a:t>
            </a:r>
            <a:br/>
            <a:br/>
            <a:r>
              <a:t>  x_gi：基因g_i的标准化表达向量 (1×m)</a:t>
            </a:r>
            <a:br/>
            <a:r>
              <a:t>  μ_c：第c个模块的中心向量</a:t>
            </a:r>
            <a:br/>
            <a:r>
              <a:t>  k：模块数（本实验 k=8）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91940"/>
            <a:ext cx="10698480" cy="365760"/>
          </a:xfrm>
          <a:prstGeom prst="roundRect">
            <a:avLst/>
          </a:prstGeom>
          <a:solidFill>
            <a:srgbClr val="D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轮廓系数选择最优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491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s(i) = (b(i) − a(i)) / max(a(i), b(i))     a(i)：同模块内凝聚力    b(i)：最近异模块分离度    s(i)→1 聚类效果好    s(i)→0 点在边界    s(i)→−1 应归入邻簇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31715"/>
            <a:ext cx="10698480" cy="198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轮廓系数评估 k=8~15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for k in range(8, 16):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km = KMeans(n_clusters=k, random_state=42, n_init='auto')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labels = km.fit_predict(gene_matrix_scaled)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score = silhouette_score(gene_matrix_scaled, labels)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→ 最优 k=8, silhouette = 0.0427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构建模块表达矩阵 (cells × modules)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for c in range(optimal_k):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mask = gene_cluster_labels == c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module_expr[:, c] = norm_expr.values[:, mask].mean(axis=1)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9318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02  实验原理 — 时间点分配策略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B7280"/>
                </a:solidFill>
              </a:defRPr>
            </a:pPr>
            <a:r>
              <a:t>"全局时间轴 + 阶段内局部排序" — 不依赖伪时间算法，完全避免循环论证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657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3.1 全局时间轴设定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→  直接使用已知细胞阶段标签的固有顺序</a:t>
            </a:r>
            <a:br/>
            <a:r>
              <a:t>→  固定间隔：Δt_stage = 1</a:t>
            </a:r>
            <a:br/>
            <a:r>
              <a:t>→  Start→[0,1], Mid→[1,2], End→[2,3]</a:t>
            </a:r>
            <a:br/>
            <a:r>
              <a:t>→  双分支：Left / Right 独立处理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828800"/>
            <a:ext cx="5120640" cy="3657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3.2 排序驱动模块筛选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2286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→  计算每相邻阶段间各模块平均表达差异</a:t>
            </a:r>
            <a:br/>
            <a:r>
              <a:t>→  选差异最显著的模块作为"排序驱动模块"</a:t>
            </a:r>
            <a:br/>
            <a:r>
              <a:t>→  该模块表达驱动当前阶段→下一阶段分化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3657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3.3 阶段内排序 + 抽样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→  按驱动模块中心表达值排序（仅阶段内）</a:t>
            </a:r>
            <a:br/>
            <a:r>
              <a:t>→  抽样量：nₛ ≥ max(3p+1, 0.05·Nᵢ)</a:t>
            </a:r>
            <a:br/>
            <a:r>
              <a:t>→  均匀抽样覆盖模块表达完整范围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4114800"/>
            <a:ext cx="5120640" cy="3657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3.4 时间点插值 + 检验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→  tᵢⱼ = tᵢ,ₛₜₐᵣₜ + (j−1)/(nₛ−1) × Δtᵢ</a:t>
            </a:r>
            <a:br/>
            <a:r>
              <a:t>→  单调性检验：Spearman |ρ| ≥ 0.8</a:t>
            </a:r>
            <a:br/>
            <a:r>
              <a:t>→  阶段间时序由生物学顺序自然保证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400800"/>
            <a:ext cx="10698480" cy="320040"/>
          </a:xfrm>
          <a:prstGeom prst="roundRect">
            <a:avLst/>
          </a:prstGeom>
          <a:solidFill>
            <a:srgbClr val="D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1">
                <a:solidFill>
                  <a:srgbClr val="1A56DB"/>
                </a:solidFill>
              </a:defRPr>
            </a:pPr>
            <a:r>
              <a:t>🔑 关键优势：时间点来源于基因表达数据结构（阶段间差异模块），不依赖任何全局降维/伪时间算法！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02  实验原理 — 最小二乘拟合与正则化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普通最小二乘 (OLS)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拟合多项式：ŷ(t) = a₀ + a₁t + a₂t² + ... + aₚtᵖ</a:t>
            </a:r>
            <a:br/>
            <a:br/>
            <a:r>
              <a:t>目标函数（最小化RSS）：</a:t>
            </a:r>
            <a:br/>
            <a:r>
              <a:t>  RSS = Σ (yⱼ − ŷⱼ)²</a:t>
            </a:r>
            <a:br/>
            <a:r>
              <a:t>通过求解正规方程组得最优参数 a₀, a₁, ..., aₚ</a:t>
            </a:r>
            <a:br/>
            <a:br/>
            <a:r>
              <a:t>评价指标：</a:t>
            </a:r>
            <a:br/>
            <a:r>
              <a:t>  R² = 1 − Σ(y−ŷ)² / Σ(y−ȳ)²</a:t>
            </a:r>
            <a:br/>
            <a:r>
              <a:t>  RMSE = √( 1/n × Σ(y−ŷ)²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Lasso 正则化 (L₁)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目标函数：</a:t>
            </a:r>
            <a:br/>
            <a:r>
              <a:t>  min Σ(yⱼ − Σ aₘtⱼᵐ)² + λ Σ|aₘ|</a:t>
            </a:r>
            <a:br/>
            <a:br/>
            <a:r>
              <a:t>λ = 0 → 退化为普通最小二乘</a:t>
            </a:r>
            <a:br/>
            <a:r>
              <a:t>λ 越大 → 正则化越强，抑制过拟合</a:t>
            </a:r>
            <a:br/>
            <a:br/>
            <a:r>
              <a:t>候选 λ：{0.001, 0.01, 0.1, 0.5, 1.0, 5.0}</a:t>
            </a:r>
            <a:br/>
            <a:r>
              <a:t>通过 5 折交叉验证确定最优 λ</a:t>
            </a:r>
            <a:br/>
            <a:r>
              <a:t>→  本实验最优 λ = 0.001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365760"/>
          </a:xfrm>
          <a:prstGeom prst="roundRect">
            <a:avLst/>
          </a:prstGeom>
          <a:solidFill>
            <a:srgbClr val="D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5折交叉验证流程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抽样细胞 → 随机5等分 → 每份轮流作验证集 → 训练集拟合 / 验证集评估RMSE → 平均RMSE最小的 λ 即为最优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02  实验原理 — 投票排序、负对照与验证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基因投票轨迹排序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●  提取显著趋势基因（R²&gt;0.5, p&lt;0.05）的拟合曲线</a:t>
            </a:r>
            <a:br/>
            <a:r>
              <a:t>●  对每对细胞 (j₁, j₂)：</a:t>
            </a:r>
            <a:br/>
            <a:r>
              <a:t>    若拟合值 ŷ_g(t_j₁) &lt; ŷ_g(t_j₂)</a:t>
            </a:r>
            <a:br/>
            <a:r>
              <a:t>    → 该基因投票 j₁ 排在 j₂ 之前</a:t>
            </a:r>
            <a:br/>
            <a:r>
              <a:t>●  汇总所有显著基因投票 → 排序聚合</a:t>
            </a:r>
            <a:br/>
            <a:r>
              <a:t>●  不依赖 PCA，完全基于基因表达趋势！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负对照实验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目的：验证时间点是否真正携带时序信息</a:t>
            </a:r>
            <a:br/>
            <a:br/>
            <a:r>
              <a:t>方法：</a:t>
            </a:r>
            <a:br/>
            <a:r>
              <a:t>  ①  将时间点向量 t 随机打乱</a:t>
            </a:r>
            <a:br/>
            <a:r>
              <a:t>  ②  重新进行最小二乘拟合</a:t>
            </a:r>
            <a:br/>
            <a:r>
              <a:t>  ③  重复 100 次，得到 R²_shuffle 分布</a:t>
            </a:r>
            <a:br/>
            <a:r>
              <a:t>  ④  若原始 R² &gt; 95% 分位数 → 轨迹可信</a:t>
            </a:r>
            <a:br/>
            <a:r>
              <a:t>  ⑤  若原始 R² 在分布内 → 可能过拟合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698480" cy="411480"/>
          </a:xfrm>
          <a:prstGeom prst="roundRect">
            <a:avLst/>
          </a:prstGeom>
          <a:solidFill>
            <a:srgbClr val="D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NMI  &amp;  ARI 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NMI（归一化互信息）：取值范围 [0,1]，&gt;0.6 认为排序合理    |    ARI（调整兰德指数）：取值范围 [−1,1]，&gt;0.5 认为排序合理</a:t>
            </a:r>
            <a:br/>
            <a:r>
              <a:t>适合评估离散阶段标签与排序后分组的吻合程度（比 Spearman 更适合离散标签）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03  实验步骤概览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731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步骤1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2743200" cy="3657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数据预处理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📂 加载表达矩阵+细胞标签</a:t>
            </a:r>
            <a:br/>
            <a:r>
              <a:t>🔍 HVG筛选(CV前25%)</a:t>
            </a:r>
            <a:br/>
            <a:r>
              <a:t>📊 Seurat标准化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731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步骤2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828800"/>
            <a:ext cx="2743200" cy="3657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基因维度优化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🔢 K-means聚类</a:t>
            </a:r>
            <a:br/>
            <a:r>
              <a:t>📈 轮廓系数定k=8</a:t>
            </a:r>
            <a:br/>
            <a:r>
              <a:t>🧩 构建模块表达矩阵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731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步骤3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828800"/>
            <a:ext cx="2743200" cy="3657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时间点分配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🌐 全局时间轴构建</a:t>
            </a:r>
            <a:br/>
            <a:r>
              <a:t>🚀 阶段间差异模块驱动</a:t>
            </a:r>
            <a:br/>
            <a:r>
              <a:t>↕️ 阶段内排序+抽样</a:t>
            </a:r>
            <a:br/>
            <a:r>
              <a:t>📐 时间点均匀插值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731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步骤4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206240"/>
            <a:ext cx="2743200" cy="3657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最小二乘拟合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📉 OLS多项式(p=1,2,3)</a:t>
            </a:r>
            <a:br/>
            <a:r>
              <a:t>🔧 Lasso正则化对比</a:t>
            </a:r>
            <a:br/>
            <a:r>
              <a:t>✂️ 5折CV选最优λ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06240"/>
            <a:ext cx="731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步骤5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4206240"/>
            <a:ext cx="2743200" cy="3657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误差分析检验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70916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📏 R² + RMSE计算</a:t>
            </a:r>
            <a:br/>
            <a:r>
              <a:t>📊 Pearson相关性检验</a:t>
            </a:r>
            <a:br/>
            <a:r>
              <a:t>🔍 残差方差分析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206240"/>
            <a:ext cx="7315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步骤6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206240"/>
            <a:ext cx="2743200" cy="36576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验证与排序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70916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🎲 负对照实验</a:t>
            </a:r>
            <a:br/>
            <a:r>
              <a:t>🗳️ 基因投票轨迹排序</a:t>
            </a:r>
            <a:br/>
            <a:r>
              <a:t>✅ NMI / ARI验证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03  代码实现 — 数据预处理与基因聚类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02005"/>
            <a:ext cx="11247120" cy="569595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========== 步骤1：高可变基因(HVG)筛选 ==========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cv = expr_df.std(axis=0) / (expr_df.mean(axis=0) + 1e-8)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n_hvg = max(2000, min(int(0.25 * expr_df.shape[1]), 3000))  # → 1000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hvg_genes = cv.nlargest(n_hvg).index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expr_hvg = expr_df[hvg_genes]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========== 步骤1：Seurat标准化 ==========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total_counts = expr_hvg.sum(axis=1)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norm_expr = np.log1p(expr_hvg.div(total_counts, axis=0) * 10000)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========== 步骤2：K-means基因聚类 ==========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gene_matrix = norm_expr.values.T   # genes × cells 转置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scaler = StandardScaler()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gene_matrix_scaled = scaler.fit_transform(gene_matrix)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轮廓系数评估 k=8~15 → 最优 k=8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for k in range(8, 16):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km = KMeans(n_clusters=k, random_state=42, n_init='auto')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labels = km.fit_predict(gene_matrix_scaled)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score = silhouette_score(gene_matrix_scaled, labels)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MiniBatchKMeans 快速聚类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kmeans_final = MiniBatchKMeans(n_clusters=8, random_state=42)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gene_cluster_labels = kmeans_final.fit_predict(gene_matrix_scaled)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构建模块表达矩阵 (cells × 8)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module_expr = np.zeros((norm_expr.shape[0], 8))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for c in range(8):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mask = gene_cluster_labels == c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module_expr[:, c] = norm_expr.values[:, mask].mean(axis=1)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03  代码实现 — 时间点分配与最小二乘拟合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38835"/>
            <a:ext cx="11247120" cy="6148705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========== 步骤3：双分支时间点分配 ==========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BRANCH_DEFS = {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'Left':  {'stages': ['Start', 'Left_Mid', 'Left_End']},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'Right': {'stages': ['Start', 'Right_Mid', 'Right_End']},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每条分支独立: Start→[0,1], Mid→[1,2], End→[2,3]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阶段内: 按差异模块表达值排序→均匀抽样→插值分配时间点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抽样量: n_s &gt;= max(3p+1, 0.05*N_i)   p=3, sampling rate=5%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时间点: t_ij = t_i_start + (j-1)/(n_s-1) * dt_i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单调性检验: Spearman |rho| &gt;= 0.8  (全部通过!)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========== 步骤4.1：OLS最小二乘拟合 ==========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for deg in [1, 2, 3]: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poly = PolynomialFeatures(degree=deg, include_bias=False)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T_poly = poly.fit_transform(T_branch)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lr = LinearRegression().fit(T_poly, y)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y_pred = lr.predict(T_poly)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r2 = r2_score(y, y_pred)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rmse = np.sqrt(mean_squared_error(y, y_pred))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========== 步骤4.2：Lasso正则化 ==========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for lam in [0.001, 0.01, 0.1, 0.5, 1.0, 5.0]: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lasso = Lasso(alpha=lam, max_iter=10000, random_state=42)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lasso.fit(T_poly, y)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========== 步骤4.3：5折交叉验证选最优λ ==========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kf = KFold(n_splits=5, shuffle=True, random_state=42)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for lam in candidates: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for train, val in kf.split(T_lf):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    lasso.fit(T[train], y[train])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        cv_rmse.append(rmse(y[val], lasso.predict(T[val])))</a:t>
            </a:r>
          </a:p>
          <a:p>
            <a:pPr>
              <a:spcAft>
                <a:spcPts val="100"/>
              </a:spcAft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# → 最优 λ = 0.001  (CV-RMSE = 0.3310)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04  实验结果 — 数据预处理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预处理关键指标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●  表达矩阵：2000 cells × 1000 genes</a:t>
            </a:r>
            <a:br/>
            <a:r>
              <a:t>●  筛选后 HVG 数量：1000 个</a:t>
            </a:r>
            <a:br/>
            <a:r>
              <a:t>●  K-means 最优模块数：k = 8</a:t>
            </a:r>
            <a:br/>
            <a:r>
              <a:t>●  轮廓系数：0.0427</a:t>
            </a:r>
            <a:br/>
            <a:r>
              <a:t>●  聚类后：8 个模块 × 2000 cells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各模块基因分布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模块0:  24基因     模块1: 159基因</a:t>
            </a:r>
            <a:br/>
            <a:r>
              <a:t>模块2:   3基因     模块3: 174基因</a:t>
            </a:r>
            <a:br/>
            <a:r>
              <a:t>模块4: 234基因     模块5:  41基因</a:t>
            </a:r>
            <a:br/>
            <a:r>
              <a:t>模块6: 158基因     模块7: 207基因</a:t>
            </a:r>
            <a:br/>
            <a:br/>
            <a:r>
              <a:t>⚠ 模块2仅3个基因 → 可能为噪声模块</a:t>
            </a:r>
            <a:br/>
            <a:r>
              <a:t>模块4基因最多 (234)，表达模式最具代表性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365760"/>
          </a:xfrm>
          <a:prstGeom prst="roundRect">
            <a:avLst/>
          </a:prstGeom>
          <a:solidFill>
            <a:srgbClr val="D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可视化（轮廓系数曲线）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k=8 时轮廓系数最高 → 8 个基因模块为最优维度优化方案。各模块代表不同表达模式的基因组（共表达模块），模块中心向量用于后续多项式拟合。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04  实验结果 — 时间点分配详情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097280"/>
                <a:gridCol w="1097280"/>
                <a:gridCol w="1371600"/>
                <a:gridCol w="1097280"/>
                <a:gridCol w="1645920"/>
                <a:gridCol w="182880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分支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细胞数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抽样数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驱动模块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单调性 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时间区间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模块2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降序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-1.000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[0, 1]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Left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Left_Mid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440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模块5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降序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-1.000 ✅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[1, 2]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Left_End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模块0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升序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 1.000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[2, 3]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Right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Start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217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模块2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降序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-1.000 ✅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[0, 1]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Right_Mid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模块5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降序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-1.000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[1, 2]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Right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Right_End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模块5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升序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 0.979 ✅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[2, 3]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✅  Left 分支：53 个抽样细胞    Right 分支：55 个抽样细胞    总抽样：108/2000 = 5.4%</a:t>
            </a:r>
            <a:br/>
            <a:r>
              <a:t>✅  所有阶段排序单调性检验通过（|ρ| ≥ 0.8）→ 时间点分配合理</a:t>
            </a:r>
            <a:br/>
            <a:r>
              <a:t>✅  左右分支 Start 阶段共用 → 分支点后各自独立分化 → 双分支轨迹自然分离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04  实验结果 — Left分支各模块拟合效果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188720"/>
                <a:gridCol w="1188720"/>
                <a:gridCol w="1371600"/>
                <a:gridCol w="1188720"/>
                <a:gridCol w="1188720"/>
                <a:gridCol w="246888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最佳阶数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Pearson 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残差方差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评价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0.3592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0.8307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R²高，RMSE偏大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无明显趋势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-0.2039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0.6370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RMSE过大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0.2643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几乎无相关性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0.2440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0.4930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趋势弱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E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E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0.9221</a:t>
                      </a:r>
                    </a:p>
                  </a:txBody>
                  <a:tcPr>
                    <a:solidFill>
                      <a:srgbClr val="FE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0.2074</a:t>
                      </a:r>
                    </a:p>
                  </a:txBody>
                  <a:tcPr>
                    <a:solidFill>
                      <a:srgbClr val="FE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-0.8661</a:t>
                      </a:r>
                    </a:p>
                  </a:txBody>
                  <a:tcPr>
                    <a:solidFill>
                      <a:srgbClr val="FE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E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0.0475</a:t>
                      </a:r>
                    </a:p>
                  </a:txBody>
                  <a:tcPr>
                    <a:solidFill>
                      <a:srgbClr val="FE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⭐ 最佳拟合</a:t>
                      </a:r>
                    </a:p>
                  </a:txBody>
                  <a:tcPr>
                    <a:solidFill>
                      <a:srgbClr val="FEFBE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0.3262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0.2037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弱趋势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0.3150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无显著趋势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🔍  模块0(R²=0.76)和模块5(R²=0.92)具有显著时间趋势 → 分化的核心驱动模块</a:t>
            </a:r>
            <a:br/>
            <a:r>
              <a:t>📌  但 RMSE 均 &gt; 0.1，不满足全部显著条件（R²&gt;0.5, RMSE&lt;0.1, p&lt;0.05）→ 需增加抽样量提高拟合精度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04  实验结果 — OLS vs Lasso 正则化对比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同阶数 OLS vs Lasso 对比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37744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阶数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OLS R²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OLS RMSE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Lasso R²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Lasso RMSE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deg=1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0.1920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0.1920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0.3504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deg=2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0.2529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0.3274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0.2523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0.3275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deg=3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0.3050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828800"/>
            <a:ext cx="502920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5折交叉验证 λ 选择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37744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λ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CV-RMSE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E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0.3310 ← 最优!</a:t>
                      </a:r>
                    </a:p>
                  </a:txBody>
                  <a:tcPr>
                    <a:solidFill>
                      <a:srgbClr val="FEFB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0.3324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0.3628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0.3801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0.3795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0.4377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0.3314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📌  由于数据集为模拟数据（噪声较小），最优 λ=0.001 极小，Lasso 与 OLS 性能几乎一致。</a:t>
            </a:r>
            <a:br/>
            <a:r>
              <a:t>📌  在实际单细胞数据中（测序噪声大、dropout 多），Lasso 的正则化效果会更加显著，可有效抑制过拟合。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04  实验结果 — 负对照实验与轨迹排序验证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负对照实验：随机打乱时间点 ×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原始平均 R² = 0.3348        打乱后 R² 95% 分位数 = 0.1011        判定：✅ 轨迹可信</a:t>
            </a:r>
            <a:br/>
            <a:br/>
            <a:r>
              <a:t>对比：0.3348 &gt;&gt; 0.1011，原始 R² 是随机情况的 3.3 倍 → 时间点确实携带了真实的时序信息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基因投票轨迹排序验证（Left 分支）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02336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验证指标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判定标准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Spearman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0.1877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Spearman 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0.1784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&lt;0.05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NMI（归一化互信息）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&gt;0.6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ARI（调整兰德指数）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&gt;0.5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6035040"/>
            <a:ext cx="10698480" cy="457200"/>
          </a:xfrm>
          <a:prstGeom prst="roundRect">
            <a:avLst/>
          </a:prstGeom>
          <a:solidFill>
            <a:srgbClr val="D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500" b="1">
                <a:solidFill>
                  <a:srgbClr val="1A56DB"/>
                </a:solidFill>
              </a:defRPr>
            </a:pPr>
            <a:r>
              <a:t>🏆 NMI=1.0, ARI=1.0 — 基因投票排序完美恢复了细胞的阶段归属！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56DB"/>
                </a:solidFill>
              </a:defRPr>
            </a:pPr>
            <a:r>
              <a:t>05  讨论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698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1031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关于拟合效果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8412480" cy="7772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模块0(R²=0.76)和模块5(R²=0.92)具有显著时间趋势，是分化的核心驱动模块；其他模块拟合效果较差(R²≈0.1~0.3)，符合生物学实际：只有特定驱动基因呈现明显的时间依赖性表达变化。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21031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关于正则化效果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788920"/>
            <a:ext cx="8412480" cy="7772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由于使用高质量模拟数据（噪声小），最优 λ=0.001 极小，Lasso 与 OLS 性能几乎一致。在实际单细胞数据中，测序噪声大、dropout 事件多，正则化的作用会更加显著。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21031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关于时间点分配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749039"/>
            <a:ext cx="8412480" cy="7772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本实验完全基于已知细胞阶段标签和基因表达数据，不依赖伪时间算法（Monocle/Slingshot），从基因表达模式出发构建轨迹排序，避免了循环论证。排序单调性检验（全部|ρ|≥0.8）和负对照实验均验证了策略有效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21031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关于验证方法选择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709160"/>
            <a:ext cx="8412480" cy="7772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Spearman相关系数依赖连续伪时间标签，而实际标签为离散阶段。NMI和ARI更适合评估离散阶段与排序的吻合程度。本实验 NMI=ARI=1.0 证明方法有效。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21031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改进方向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5669280"/>
            <a:ext cx="8412480" cy="777240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① 增加抽样细胞数量（当前仅 5.4%），降低残差方差</a:t>
            </a:r>
            <a:br/>
            <a:r>
              <a:t>② 尝试非线性拟合（随机森林、SVR）捕捉复杂趋势</a:t>
            </a:r>
            <a:br/>
            <a:r>
              <a:t>③ 对显著趋势模块进行功能富集分析</a:t>
            </a:r>
            <a:br/>
            <a:r>
              <a:t>④ 尝试动态间隔时间轴（区间正比于细胞数量）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六、结  论</a:t>
            </a:r>
          </a:p>
          <a:p>
            <a:pPr>
              <a:spcBef>
                <a:spcPts val="1200"/>
              </a:spcBef>
              <a:defRPr sz="1800">
                <a:solidFill>
                  <a:srgbClr val="BFDBFE"/>
                </a:solidFill>
              </a:defRPr>
            </a:pPr>
            <a:r>
              <a:t>数学方法与生物问题的有机结合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0698480" cy="43891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✅  成功实现单细胞表达矩阵预处理流程（HVG筛选 → 标准化 → K-means聚类，k=8）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47872"/>
            <a:ext cx="106984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✅  建立基于细胞标签的时间点分配策略，排序单调性检验全部通过（|ρ| ≥ 0.8）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78224"/>
            <a:ext cx="10698480" cy="43891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✅  完成 OLS 多项式拟合（1~3次）：模块0 (R²=0.76)、模块5 (R²=0.92) 具有显著时间趋势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08575"/>
            <a:ext cx="106984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✅  5 折交叉验证确定最优 λ=0.001，Lasso 与 OLS 性能接近（模拟数据噪声小）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38927"/>
            <a:ext cx="10698480" cy="43891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✅  负对照实验通过：原始 R²=0.335 &gt;&gt; 随机 95% 分位数 = 0.101 → 轨迹可信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79"/>
            <a:ext cx="106984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✅  基因投票轨迹排序：NMI=1.0, ARI=1.0 → 完美恢复细胞阶段归属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199631"/>
            <a:ext cx="10698480" cy="438912"/>
          </a:xfrm>
          <a:prstGeom prst="round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bIns="91440" rtlCol="0" anchor="ctr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✅  将数值分析方法（最小二乘、正则化、假设检验）成功应用于单细胞生物信息学问题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8930</Words>
  <Application>WPS 演示</Application>
  <PresentationFormat>On-screen Show (4:3)</PresentationFormat>
  <Paragraphs>739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Arial</vt:lpstr>
      <vt:lpstr>Consolas</vt:lpstr>
      <vt:lpstr>Calibri</vt:lpstr>
      <vt:lpstr>微软雅黑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Elk</cp:lastModifiedBy>
  <cp:revision>3</cp:revision>
  <dcterms:created xsi:type="dcterms:W3CDTF">2013-01-27T09:14:00Z</dcterms:created>
  <dcterms:modified xsi:type="dcterms:W3CDTF">2026-05-25T12:48:20Z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5E202014FFEE4C8FB4AF8BB6EE1ABB8D_12</vt:lpwstr>
  </property>
</Properties>
</file>